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6"/>
  </p:notesMasterIdLst>
  <p:handoutMasterIdLst>
    <p:handoutMasterId r:id="rId27"/>
  </p:handoutMasterIdLst>
  <p:sldIdLst>
    <p:sldId id="256" r:id="rId2"/>
    <p:sldId id="275" r:id="rId3"/>
    <p:sldId id="276" r:id="rId4"/>
    <p:sldId id="302" r:id="rId5"/>
    <p:sldId id="305" r:id="rId6"/>
    <p:sldId id="306" r:id="rId7"/>
    <p:sldId id="315" r:id="rId8"/>
    <p:sldId id="303" r:id="rId9"/>
    <p:sldId id="316" r:id="rId10"/>
    <p:sldId id="307" r:id="rId11"/>
    <p:sldId id="308" r:id="rId12"/>
    <p:sldId id="304" r:id="rId13"/>
    <p:sldId id="317" r:id="rId14"/>
    <p:sldId id="322" r:id="rId15"/>
    <p:sldId id="321" r:id="rId16"/>
    <p:sldId id="314" r:id="rId17"/>
    <p:sldId id="319" r:id="rId18"/>
    <p:sldId id="277" r:id="rId19"/>
    <p:sldId id="310" r:id="rId20"/>
    <p:sldId id="311" r:id="rId21"/>
    <p:sldId id="320" r:id="rId22"/>
    <p:sldId id="318" r:id="rId23"/>
    <p:sldId id="313" r:id="rId24"/>
    <p:sldId id="301" r:id="rId25"/>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D7E4B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434" autoAdjust="0"/>
  </p:normalViewPr>
  <p:slideViewPr>
    <p:cSldViewPr snapToGrid="0" snapToObjects="1">
      <p:cViewPr varScale="1">
        <p:scale>
          <a:sx n="58" d="100"/>
          <a:sy n="58" d="100"/>
        </p:scale>
        <p:origin x="988" y="28"/>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115638E-AC2E-4D86-9AB1-BBCD15A58B1C}"/>
              </a:ext>
            </a:extLst>
          </p:cNvPr>
          <p:cNvSpPr>
            <a:spLocks noGrp="1"/>
          </p:cNvSpPr>
          <p:nvPr>
            <p:ph type="hdr" sz="quarter"/>
          </p:nvPr>
        </p:nvSpPr>
        <p:spPr>
          <a:xfrm>
            <a:off x="1" y="0"/>
            <a:ext cx="3038475" cy="466726"/>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A4F64AB-7304-4BF4-8B0D-925E7B404C4E}"/>
              </a:ext>
            </a:extLst>
          </p:cNvPr>
          <p:cNvSpPr>
            <a:spLocks noGrp="1"/>
          </p:cNvSpPr>
          <p:nvPr>
            <p:ph type="dt" sz="quarter" idx="1"/>
          </p:nvPr>
        </p:nvSpPr>
        <p:spPr>
          <a:xfrm>
            <a:off x="3970338" y="0"/>
            <a:ext cx="3038475" cy="466726"/>
          </a:xfrm>
          <a:prstGeom prst="rect">
            <a:avLst/>
          </a:prstGeom>
        </p:spPr>
        <p:txBody>
          <a:bodyPr vert="horz" lIns="91440" tIns="45720" rIns="91440" bIns="45720" rtlCol="0"/>
          <a:lstStyle>
            <a:lvl1pPr algn="r">
              <a:defRPr sz="1200"/>
            </a:lvl1pPr>
          </a:lstStyle>
          <a:p>
            <a:fld id="{670D17B0-B540-437C-BBB8-17763196BFCA}" type="datetime1">
              <a:rPr lang="en-US" smtClean="0"/>
              <a:t>3/27/2024</a:t>
            </a:fld>
            <a:endParaRPr lang="en-US"/>
          </a:p>
        </p:txBody>
      </p:sp>
      <p:sp>
        <p:nvSpPr>
          <p:cNvPr id="4" name="Footer Placeholder 3">
            <a:extLst>
              <a:ext uri="{FF2B5EF4-FFF2-40B4-BE49-F238E27FC236}">
                <a16:creationId xmlns:a16="http://schemas.microsoft.com/office/drawing/2014/main" id="{28D365A2-B25E-42AE-9F21-3EF7446033BC}"/>
              </a:ext>
            </a:extLst>
          </p:cNvPr>
          <p:cNvSpPr>
            <a:spLocks noGrp="1"/>
          </p:cNvSpPr>
          <p:nvPr>
            <p:ph type="ftr" sz="quarter" idx="2"/>
          </p:nvPr>
        </p:nvSpPr>
        <p:spPr>
          <a:xfrm>
            <a:off x="1" y="8829676"/>
            <a:ext cx="3038475" cy="466726"/>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15F4B71-94F8-4A48-8CD6-15322F9F3178}"/>
              </a:ext>
            </a:extLst>
          </p:cNvPr>
          <p:cNvSpPr>
            <a:spLocks noGrp="1"/>
          </p:cNvSpPr>
          <p:nvPr>
            <p:ph type="sldNum" sz="quarter" idx="3"/>
          </p:nvPr>
        </p:nvSpPr>
        <p:spPr>
          <a:xfrm>
            <a:off x="3970338" y="8829676"/>
            <a:ext cx="3038475" cy="466726"/>
          </a:xfrm>
          <a:prstGeom prst="rect">
            <a:avLst/>
          </a:prstGeom>
        </p:spPr>
        <p:txBody>
          <a:bodyPr vert="horz" lIns="91440" tIns="45720" rIns="91440" bIns="45720" rtlCol="0" anchor="b"/>
          <a:lstStyle>
            <a:lvl1pPr algn="r">
              <a:defRPr sz="1200"/>
            </a:lvl1pPr>
          </a:lstStyle>
          <a:p>
            <a:fld id="{D483DD56-A7BA-4A1C-96CC-D649C950E778}" type="slidenum">
              <a:rPr lang="en-US" smtClean="0"/>
              <a:t>‹#›</a:t>
            </a:fld>
            <a:endParaRPr lang="en-US"/>
          </a:p>
        </p:txBody>
      </p:sp>
    </p:spTree>
    <p:extLst>
      <p:ext uri="{BB962C8B-B14F-4D97-AF65-F5344CB8AC3E}">
        <p14:creationId xmlns:p14="http://schemas.microsoft.com/office/powerpoint/2010/main" val="31989590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1"/>
            <a:ext cx="3037840" cy="466434"/>
          </a:xfrm>
          <a:prstGeom prst="rect">
            <a:avLst/>
          </a:prstGeom>
        </p:spPr>
        <p:txBody>
          <a:bodyPr vert="horz" lIns="93177" tIns="46589" rIns="93177" bIns="46589" rtlCol="0"/>
          <a:lstStyle>
            <a:lvl1pPr algn="r">
              <a:defRPr sz="1200"/>
            </a:lvl1pPr>
          </a:lstStyle>
          <a:p>
            <a:fld id="{B2C6BBA3-8235-4DD6-A5B6-4937ED4E42FD}" type="datetime1">
              <a:rPr lang="en-US" smtClean="0"/>
              <a:t>3/27/2024</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3"/>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55ADCB85-399F-4269-8350-6271ED031D22}" type="slidenum">
              <a:rPr lang="en-US" smtClean="0"/>
              <a:t>‹#›</a:t>
            </a:fld>
            <a:endParaRPr lang="en-US"/>
          </a:p>
        </p:txBody>
      </p:sp>
    </p:spTree>
    <p:extLst>
      <p:ext uri="{BB962C8B-B14F-4D97-AF65-F5344CB8AC3E}">
        <p14:creationId xmlns:p14="http://schemas.microsoft.com/office/powerpoint/2010/main" val="3574071565"/>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0098313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8748218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8909802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2920721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5841603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8776022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972312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52425" marR="395764" indent="-342900">
              <a:lnSpc>
                <a:spcPct val="100800"/>
              </a:lnSpc>
              <a:spcBef>
                <a:spcPts val="56"/>
              </a:spcBef>
              <a:buFont typeface="Arial" panose="020B0604020202020204" pitchFamily="34" charset="0"/>
              <a:buChar char="•"/>
            </a:pPr>
            <a:endParaRPr lang="en-US" sz="1200" b="1" dirty="0">
              <a:latin typeface="Times New Roman" panose="02020603050405020304" pitchFamily="18" charset="0"/>
              <a:cs typeface="Times New Roman" panose="02020603050405020304" pitchFamily="18" charset="0"/>
            </a:endParaRPr>
          </a:p>
          <a:p>
            <a:pPr marL="352425" marR="395764" indent="-342900">
              <a:lnSpc>
                <a:spcPct val="100800"/>
              </a:lnSpc>
              <a:spcBef>
                <a:spcPts val="56"/>
              </a:spcBef>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Skimming: </a:t>
            </a:r>
            <a:r>
              <a:rPr lang="en-US" sz="1200" dirty="0">
                <a:latin typeface="Times New Roman" panose="02020603050405020304" pitchFamily="18" charset="0"/>
                <a:cs typeface="Times New Roman" panose="02020603050405020304" pitchFamily="18" charset="0"/>
              </a:rPr>
              <a:t>This is a reading technique that aims at understanding or obtaining facts. It does not seek to identify words, figures, or phrases, but rather to identify the gist of a story or text. (Some questions may include:  </a:t>
            </a:r>
            <a:r>
              <a:rPr lang="en-US" sz="1200" i="1" dirty="0">
                <a:latin typeface="Times New Roman" panose="02020603050405020304" pitchFamily="18" charset="0"/>
                <a:cs typeface="Times New Roman" panose="02020603050405020304" pitchFamily="18" charset="0"/>
              </a:rPr>
              <a:t>What is the gist of this story? What is this story, passage or chapter about? What are the various elements treated in this chapter? etc.)</a:t>
            </a:r>
          </a:p>
          <a:p>
            <a:endParaRPr lang="en-US" dirty="0"/>
          </a:p>
        </p:txBody>
      </p:sp>
    </p:spTree>
    <p:extLst>
      <p:ext uri="{BB962C8B-B14F-4D97-AF65-F5344CB8AC3E}">
        <p14:creationId xmlns:p14="http://schemas.microsoft.com/office/powerpoint/2010/main" val="11041165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0171457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7854463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4963651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52425" marR="395764" indent="-342900">
              <a:lnSpc>
                <a:spcPct val="100800"/>
              </a:lnSpc>
              <a:spcBef>
                <a:spcPts val="56"/>
              </a:spcBef>
              <a:buFont typeface="Arial" panose="020B0604020202020204" pitchFamily="34" charset="0"/>
              <a:buChar char="•"/>
            </a:pPr>
            <a:r>
              <a:rPr lang="en-US" dirty="0"/>
              <a:t>NOTE:</a:t>
            </a:r>
            <a:r>
              <a:rPr lang="en-US" baseline="0" dirty="0"/>
              <a:t> </a:t>
            </a:r>
            <a:r>
              <a:rPr lang="en-US" sz="1200" dirty="0">
                <a:solidFill>
                  <a:srgbClr val="FF0000"/>
                </a:solidFill>
                <a:latin typeface="Times New Roman" panose="02020603050405020304" pitchFamily="18" charset="0"/>
                <a:cs typeface="Times New Roman" panose="02020603050405020304" pitchFamily="18" charset="0"/>
              </a:rPr>
              <a:t>Factual Questions</a:t>
            </a:r>
          </a:p>
          <a:p>
            <a:pPr marL="9525" marR="395764">
              <a:lnSpc>
                <a:spcPct val="100800"/>
              </a:lnSpc>
              <a:spcBef>
                <a:spcPts val="56"/>
              </a:spcBef>
            </a:pPr>
            <a:endParaRPr lang="en-US" sz="800" dirty="0">
              <a:solidFill>
                <a:srgbClr val="FF0000"/>
              </a:solidFill>
              <a:latin typeface="Times New Roman" panose="02020603050405020304" pitchFamily="18" charset="0"/>
              <a:cs typeface="Times New Roman" panose="02020603050405020304" pitchFamily="18" charset="0"/>
            </a:endParaRPr>
          </a:p>
          <a:p>
            <a:pPr marL="352425" marR="395764" indent="-342900">
              <a:lnSpc>
                <a:spcPct val="100800"/>
              </a:lnSpc>
              <a:spcBef>
                <a:spcPts val="56"/>
              </a:spcBef>
              <a:buFont typeface="Arial" panose="020B0604020202020204" pitchFamily="34" charset="0"/>
              <a:buChar char="•"/>
            </a:pPr>
            <a:r>
              <a:rPr lang="en-US" sz="1200" dirty="0">
                <a:solidFill>
                  <a:srgbClr val="FF0000"/>
                </a:solidFill>
                <a:latin typeface="Times New Roman" panose="02020603050405020304" pitchFamily="18" charset="0"/>
                <a:cs typeface="Times New Roman" panose="02020603050405020304" pitchFamily="18" charset="0"/>
              </a:rPr>
              <a:t>Use your own words Questions</a:t>
            </a:r>
          </a:p>
          <a:p>
            <a:pPr marL="352425" marR="395764" indent="-342900">
              <a:lnSpc>
                <a:spcPct val="100800"/>
              </a:lnSpc>
              <a:spcBef>
                <a:spcPts val="56"/>
              </a:spcBef>
              <a:buFont typeface="Arial" panose="020B0604020202020204" pitchFamily="34" charset="0"/>
              <a:buChar char="•"/>
            </a:pPr>
            <a:endParaRPr lang="en-US" sz="800" dirty="0">
              <a:solidFill>
                <a:srgbClr val="FF0000"/>
              </a:solidFill>
              <a:latin typeface="Times New Roman" panose="02020603050405020304" pitchFamily="18" charset="0"/>
              <a:cs typeface="Times New Roman" panose="02020603050405020304" pitchFamily="18" charset="0"/>
            </a:endParaRPr>
          </a:p>
          <a:p>
            <a:pPr marL="352425" marR="395764" indent="-342900">
              <a:lnSpc>
                <a:spcPct val="100800"/>
              </a:lnSpc>
              <a:spcBef>
                <a:spcPts val="56"/>
              </a:spcBef>
              <a:buFont typeface="Arial" panose="020B0604020202020204" pitchFamily="34" charset="0"/>
              <a:buChar char="•"/>
            </a:pPr>
            <a:r>
              <a:rPr lang="en-US" sz="1200" dirty="0">
                <a:solidFill>
                  <a:srgbClr val="FF0000"/>
                </a:solidFill>
                <a:latin typeface="Times New Roman" panose="02020603050405020304" pitchFamily="18" charset="0"/>
                <a:cs typeface="Times New Roman" panose="02020603050405020304" pitchFamily="18" charset="0"/>
              </a:rPr>
              <a:t>Vocabulary Questions</a:t>
            </a:r>
          </a:p>
          <a:p>
            <a:pPr marL="352425" marR="395764" indent="-342900">
              <a:lnSpc>
                <a:spcPct val="100800"/>
              </a:lnSpc>
              <a:spcBef>
                <a:spcPts val="56"/>
              </a:spcBef>
              <a:buFont typeface="Arial" panose="020B0604020202020204" pitchFamily="34" charset="0"/>
              <a:buChar char="•"/>
            </a:pPr>
            <a:endParaRPr lang="en-US" sz="800" dirty="0">
              <a:solidFill>
                <a:srgbClr val="FF0000"/>
              </a:solidFill>
              <a:latin typeface="Times New Roman" panose="02020603050405020304" pitchFamily="18" charset="0"/>
              <a:cs typeface="Times New Roman" panose="02020603050405020304" pitchFamily="18" charset="0"/>
            </a:endParaRPr>
          </a:p>
          <a:p>
            <a:pPr marL="352425" marR="395764" indent="-342900">
              <a:lnSpc>
                <a:spcPct val="100800"/>
              </a:lnSpc>
              <a:spcBef>
                <a:spcPts val="56"/>
              </a:spcBef>
              <a:buFont typeface="Arial" panose="020B0604020202020204" pitchFamily="34" charset="0"/>
              <a:buChar char="•"/>
            </a:pPr>
            <a:r>
              <a:rPr lang="en-US" sz="1200" dirty="0">
                <a:solidFill>
                  <a:srgbClr val="FF0000"/>
                </a:solidFill>
                <a:latin typeface="Times New Roman" panose="02020603050405020304" pitchFamily="18" charset="0"/>
                <a:cs typeface="Times New Roman" panose="02020603050405020304" pitchFamily="18" charset="0"/>
              </a:rPr>
              <a:t>Rephrasing  Questions</a:t>
            </a:r>
          </a:p>
          <a:p>
            <a:pPr marL="352425" marR="395764" indent="-342900">
              <a:lnSpc>
                <a:spcPct val="100800"/>
              </a:lnSpc>
              <a:spcBef>
                <a:spcPts val="56"/>
              </a:spcBef>
              <a:buFont typeface="Arial" panose="020B0604020202020204" pitchFamily="34" charset="0"/>
              <a:buChar char="•"/>
            </a:pPr>
            <a:endParaRPr lang="en-US" sz="800" dirty="0">
              <a:solidFill>
                <a:srgbClr val="FF0000"/>
              </a:solidFill>
              <a:latin typeface="Times New Roman" panose="02020603050405020304" pitchFamily="18" charset="0"/>
              <a:cs typeface="Times New Roman" panose="02020603050405020304" pitchFamily="18" charset="0"/>
            </a:endParaRPr>
          </a:p>
          <a:p>
            <a:pPr marL="352425" marR="395764" indent="-342900">
              <a:lnSpc>
                <a:spcPct val="100800"/>
              </a:lnSpc>
              <a:spcBef>
                <a:spcPts val="56"/>
              </a:spcBef>
              <a:buFont typeface="Arial" panose="020B0604020202020204" pitchFamily="34" charset="0"/>
              <a:buChar char="•"/>
            </a:pPr>
            <a:r>
              <a:rPr lang="en-US" sz="1200" dirty="0">
                <a:solidFill>
                  <a:srgbClr val="FF0000"/>
                </a:solidFill>
                <a:latin typeface="Times New Roman" panose="02020603050405020304" pitchFamily="18" charset="0"/>
                <a:cs typeface="Times New Roman" panose="02020603050405020304" pitchFamily="18" charset="0"/>
              </a:rPr>
              <a:t>Language use Questions</a:t>
            </a:r>
          </a:p>
          <a:p>
            <a:endParaRPr lang="en-US" dirty="0"/>
          </a:p>
        </p:txBody>
      </p:sp>
    </p:spTree>
    <p:extLst>
      <p:ext uri="{BB962C8B-B14F-4D97-AF65-F5344CB8AC3E}">
        <p14:creationId xmlns:p14="http://schemas.microsoft.com/office/powerpoint/2010/main" val="3447272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52425" marR="395764" indent="-342900" algn="just">
              <a:lnSpc>
                <a:spcPct val="150000"/>
              </a:lnSpc>
              <a:spcBef>
                <a:spcPts val="56"/>
              </a:spcBef>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Simile </a:t>
            </a:r>
            <a:r>
              <a:rPr lang="en-US" sz="1200" dirty="0">
                <a:latin typeface="Times New Roman" panose="02020603050405020304" pitchFamily="18" charset="0"/>
                <a:cs typeface="Times New Roman" panose="02020603050405020304" pitchFamily="18" charset="0"/>
              </a:rPr>
              <a:t>(Comparison between two dissimilar things by saying that one is like the other) </a:t>
            </a:r>
            <a:endParaRPr lang="en-US" sz="1200" b="1" dirty="0">
              <a:latin typeface="Times New Roman" panose="02020603050405020304" pitchFamily="18" charset="0"/>
              <a:cs typeface="Times New Roman" panose="02020603050405020304" pitchFamily="18" charset="0"/>
            </a:endParaRPr>
          </a:p>
          <a:p>
            <a:pPr marL="352425" marR="395764" indent="-342900" algn="just">
              <a:lnSpc>
                <a:spcPct val="150000"/>
              </a:lnSpc>
              <a:spcBef>
                <a:spcPts val="56"/>
              </a:spcBef>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Metaphor </a:t>
            </a:r>
            <a:r>
              <a:rPr lang="en-US" sz="1200" dirty="0">
                <a:latin typeface="Times New Roman" panose="02020603050405020304" pitchFamily="18" charset="0"/>
                <a:cs typeface="Times New Roman" panose="02020603050405020304" pitchFamily="18" charset="0"/>
              </a:rPr>
              <a:t>(Comparison between two dissimilar thing without using either ‘like’ or ‘as’)</a:t>
            </a:r>
            <a:endParaRPr lang="en-US" sz="1200" b="1" dirty="0">
              <a:latin typeface="Times New Roman" panose="02020603050405020304" pitchFamily="18" charset="0"/>
              <a:cs typeface="Times New Roman" panose="02020603050405020304" pitchFamily="18" charset="0"/>
            </a:endParaRPr>
          </a:p>
          <a:p>
            <a:pPr marL="352425" marR="395764" indent="-342900" algn="just">
              <a:lnSpc>
                <a:spcPct val="150000"/>
              </a:lnSpc>
              <a:spcBef>
                <a:spcPts val="56"/>
              </a:spcBef>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Personification </a:t>
            </a:r>
            <a:r>
              <a:rPr lang="en-US" sz="1200" dirty="0">
                <a:latin typeface="Times New Roman" panose="02020603050405020304" pitchFamily="18" charset="0"/>
                <a:cs typeface="Times New Roman" panose="02020603050405020304" pitchFamily="18" charset="0"/>
              </a:rPr>
              <a:t>(Giving human traits or characteristics to non-human or non-living things)</a:t>
            </a:r>
            <a:endParaRPr lang="en-US" sz="1200" b="1" dirty="0">
              <a:latin typeface="Times New Roman" panose="02020603050405020304" pitchFamily="18" charset="0"/>
              <a:cs typeface="Times New Roman" panose="02020603050405020304" pitchFamily="18" charset="0"/>
            </a:endParaRPr>
          </a:p>
          <a:p>
            <a:pPr marL="352425" marR="395764" indent="-342900" algn="just">
              <a:lnSpc>
                <a:spcPct val="150000"/>
              </a:lnSpc>
              <a:spcBef>
                <a:spcPts val="56"/>
              </a:spcBef>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Irony </a:t>
            </a:r>
            <a:r>
              <a:rPr lang="en-US" sz="1200" dirty="0">
                <a:latin typeface="Times New Roman" panose="02020603050405020304" pitchFamily="18" charset="0"/>
                <a:cs typeface="Times New Roman" panose="02020603050405020304" pitchFamily="18" charset="0"/>
              </a:rPr>
              <a:t>(Expressions that mean the opposite) </a:t>
            </a:r>
            <a:endParaRPr lang="en-US" sz="1200" b="1" dirty="0">
              <a:latin typeface="Times New Roman" panose="02020603050405020304" pitchFamily="18" charset="0"/>
              <a:cs typeface="Times New Roman" panose="02020603050405020304" pitchFamily="18" charset="0"/>
            </a:endParaRPr>
          </a:p>
          <a:p>
            <a:pPr marL="352425" marR="395764" indent="-342900" algn="just">
              <a:lnSpc>
                <a:spcPct val="150000"/>
              </a:lnSpc>
              <a:spcBef>
                <a:spcPts val="56"/>
              </a:spcBef>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Paradox </a:t>
            </a:r>
            <a:r>
              <a:rPr lang="en-US" sz="1200" dirty="0">
                <a:latin typeface="Times New Roman" panose="02020603050405020304" pitchFamily="18" charset="0"/>
                <a:cs typeface="Times New Roman" panose="02020603050405020304" pitchFamily="18" charset="0"/>
              </a:rPr>
              <a:t>(A seemingly absurd or contradictory statement but contains some truth)</a:t>
            </a:r>
            <a:endParaRPr lang="en-US" sz="1200" b="1" dirty="0">
              <a:latin typeface="Times New Roman" panose="02020603050405020304" pitchFamily="18" charset="0"/>
              <a:cs typeface="Times New Roman" panose="02020603050405020304" pitchFamily="18" charset="0"/>
            </a:endParaRPr>
          </a:p>
          <a:p>
            <a:pPr marL="352425" marR="395764" indent="-342900" algn="just">
              <a:lnSpc>
                <a:spcPct val="150000"/>
              </a:lnSpc>
              <a:spcBef>
                <a:spcPts val="56"/>
              </a:spcBef>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Oxymoron  </a:t>
            </a:r>
            <a:r>
              <a:rPr lang="en-US" sz="1200" dirty="0">
                <a:latin typeface="Times New Roman" panose="02020603050405020304" pitchFamily="18" charset="0"/>
                <a:cs typeface="Times New Roman" panose="02020603050405020304" pitchFamily="18" charset="0"/>
              </a:rPr>
              <a:t>(Two apparent contradictory words used together) </a:t>
            </a:r>
            <a:endParaRPr lang="en-US" sz="1200" b="1" dirty="0">
              <a:latin typeface="Times New Roman" panose="02020603050405020304" pitchFamily="18" charset="0"/>
              <a:cs typeface="Times New Roman" panose="02020603050405020304" pitchFamily="18" charset="0"/>
            </a:endParaRPr>
          </a:p>
          <a:p>
            <a:pPr marL="352425" marR="395764" indent="-342900" algn="just">
              <a:lnSpc>
                <a:spcPct val="150000"/>
              </a:lnSpc>
              <a:spcBef>
                <a:spcPts val="56"/>
              </a:spcBef>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Euphemism </a:t>
            </a:r>
            <a:r>
              <a:rPr lang="en-US" sz="1200" dirty="0">
                <a:latin typeface="Times New Roman" panose="02020603050405020304" pitchFamily="18" charset="0"/>
                <a:cs typeface="Times New Roman" panose="02020603050405020304" pitchFamily="18" charset="0"/>
              </a:rPr>
              <a:t>(Using pleasant, mild or indirect words or phrases in place of unpleasant, or painful ones)</a:t>
            </a:r>
            <a:endParaRPr lang="en-US" sz="1200" b="1" dirty="0">
              <a:latin typeface="Times New Roman" panose="02020603050405020304" pitchFamily="18" charset="0"/>
              <a:cs typeface="Times New Roman" panose="02020603050405020304" pitchFamily="18" charset="0"/>
            </a:endParaRPr>
          </a:p>
          <a:p>
            <a:pPr marL="352425" marR="395764" indent="-342900" algn="just">
              <a:lnSpc>
                <a:spcPct val="150000"/>
              </a:lnSpc>
              <a:spcBef>
                <a:spcPts val="56"/>
              </a:spcBef>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Hyperbole </a:t>
            </a:r>
            <a:r>
              <a:rPr lang="en-US" sz="1200" dirty="0">
                <a:latin typeface="Times New Roman" panose="02020603050405020304" pitchFamily="18" charset="0"/>
                <a:cs typeface="Times New Roman" panose="02020603050405020304" pitchFamily="18" charset="0"/>
              </a:rPr>
              <a:t>(Using exaggeration for emphasis)</a:t>
            </a:r>
            <a:endParaRPr lang="en-US" sz="1200" b="1" dirty="0">
              <a:latin typeface="Times New Roman" panose="02020603050405020304" pitchFamily="18" charset="0"/>
              <a:cs typeface="Times New Roman" panose="02020603050405020304" pitchFamily="18" charset="0"/>
            </a:endParaRPr>
          </a:p>
          <a:p>
            <a:pPr marL="352425" marR="395764" indent="-342900" algn="just">
              <a:lnSpc>
                <a:spcPct val="150000"/>
              </a:lnSpc>
              <a:spcBef>
                <a:spcPts val="56"/>
              </a:spcBef>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Homophones </a:t>
            </a:r>
            <a:r>
              <a:rPr lang="en-US" sz="1200" dirty="0">
                <a:latin typeface="Times New Roman" panose="02020603050405020304" pitchFamily="18" charset="0"/>
                <a:cs typeface="Times New Roman" panose="02020603050405020304" pitchFamily="18" charset="0"/>
              </a:rPr>
              <a:t>(Words sounding alike but have different meanings and usually different spellings)</a:t>
            </a:r>
            <a:endParaRPr lang="en-US" sz="1200" b="1" dirty="0">
              <a:latin typeface="Times New Roman" panose="02020603050405020304" pitchFamily="18" charset="0"/>
              <a:cs typeface="Times New Roman" panose="02020603050405020304" pitchFamily="18" charset="0"/>
            </a:endParaRPr>
          </a:p>
          <a:p>
            <a:pPr marL="352425" marR="395764" indent="-342900" algn="just">
              <a:lnSpc>
                <a:spcPct val="150000"/>
              </a:lnSpc>
              <a:spcBef>
                <a:spcPts val="56"/>
              </a:spcBef>
              <a:buFont typeface="Arial" panose="020B0604020202020204" pitchFamily="34" charset="0"/>
              <a:buChar char="•"/>
            </a:pPr>
            <a:r>
              <a:rPr lang="en-US" sz="1200" b="1" dirty="0">
                <a:latin typeface="Times New Roman" panose="02020603050405020304" pitchFamily="18" charset="0"/>
                <a:cs typeface="Times New Roman" panose="02020603050405020304" pitchFamily="18" charset="0"/>
              </a:rPr>
              <a:t>Idioms </a:t>
            </a:r>
            <a:r>
              <a:rPr lang="en-US" sz="1200" dirty="0">
                <a:latin typeface="Times New Roman" panose="02020603050405020304" pitchFamily="18" charset="0"/>
                <a:cs typeface="Times New Roman" panose="02020603050405020304" pitchFamily="18" charset="0"/>
              </a:rPr>
              <a:t>(Using combination of words that do not necessarily related to the meaning of the individual words)</a:t>
            </a:r>
            <a:endParaRPr lang="en-US" sz="1200" b="1"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5927518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335329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735086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502920" indent="-457200" algn="just">
              <a:buFont typeface="Arial" panose="020B0604020202020204" pitchFamily="34" charset="0"/>
              <a:buChar char="•"/>
            </a:pPr>
            <a:r>
              <a:rPr lang="en-GB" sz="1200" dirty="0">
                <a:solidFill>
                  <a:srgbClr val="000000"/>
                </a:solidFill>
                <a:latin typeface="Times New Roman" panose="02020603050405020304" pitchFamily="18" charset="0"/>
                <a:cs typeface="Times New Roman" panose="02020603050405020304" pitchFamily="18" charset="0"/>
              </a:rPr>
              <a:t>Take note of what exactly a question requires that you do. </a:t>
            </a:r>
          </a:p>
          <a:p>
            <a:pPr marL="502920" indent="-457200" algn="just">
              <a:buFont typeface="Arial" panose="020B0604020202020204" pitchFamily="34" charset="0"/>
              <a:buChar char="•"/>
            </a:pPr>
            <a:r>
              <a:rPr lang="en-GB" sz="1200" dirty="0">
                <a:solidFill>
                  <a:srgbClr val="000000"/>
                </a:solidFill>
                <a:latin typeface="Times New Roman" panose="02020603050405020304" pitchFamily="18" charset="0"/>
                <a:cs typeface="Times New Roman" panose="02020603050405020304" pitchFamily="18" charset="0"/>
              </a:rPr>
              <a:t>Make sure that there is no grammatical/expression error in your answers. </a:t>
            </a:r>
          </a:p>
          <a:p>
            <a:pPr marL="502920" indent="-457200" algn="just">
              <a:buFont typeface="Arial" panose="020B0604020202020204" pitchFamily="34" charset="0"/>
              <a:buChar char="•"/>
            </a:pPr>
            <a:r>
              <a:rPr lang="en-GB" sz="1200" dirty="0">
                <a:solidFill>
                  <a:srgbClr val="000000"/>
                </a:solidFill>
                <a:latin typeface="Times New Roman" panose="02020603050405020304" pitchFamily="18" charset="0"/>
                <a:cs typeface="Times New Roman" panose="02020603050405020304" pitchFamily="18" charset="0"/>
              </a:rPr>
              <a:t>Avoid lifting a sentence that contains elements of the required answer from the passage. Only the part of a sentence that answers a question could be taken while any portion that does not relate to the answer should be avoided. </a:t>
            </a:r>
          </a:p>
          <a:p>
            <a:pPr marL="502920" indent="-457200" algn="just">
              <a:buFont typeface="Arial" panose="020B0604020202020204" pitchFamily="34" charset="0"/>
              <a:buChar char="•"/>
            </a:pPr>
            <a:r>
              <a:rPr lang="en-US" sz="1200" dirty="0">
                <a:solidFill>
                  <a:srgbClr val="000000"/>
                </a:solidFill>
                <a:latin typeface="Times New Roman" panose="02020603050405020304" pitchFamily="18" charset="0"/>
                <a:cs typeface="Times New Roman" panose="02020603050405020304" pitchFamily="18" charset="0"/>
              </a:rPr>
              <a:t>Where another word/expression is expected to be given to replace a word/expression in the passage, consider all options that come to your mind critically to pick the one that fits in perfectly.</a:t>
            </a:r>
          </a:p>
          <a:p>
            <a:pPr marL="502920" indent="-457200" algn="just">
              <a:buFont typeface="Arial" panose="020B0604020202020204" pitchFamily="34" charset="0"/>
              <a:buChar char="•"/>
            </a:pPr>
            <a:r>
              <a:rPr lang="en-US" sz="1200" dirty="0">
                <a:solidFill>
                  <a:srgbClr val="000000"/>
                </a:solidFill>
                <a:latin typeface="Times New Roman" panose="02020603050405020304" pitchFamily="18" charset="0"/>
                <a:cs typeface="Times New Roman" panose="02020603050405020304" pitchFamily="18" charset="0"/>
              </a:rPr>
              <a:t>Candidates’ knowledge of grammatical units is also tested in the comprehension exercises. This makes a demand on candidates’ ability to recognize the different word classes, phrases, and clause structures as well as their grammatical functions in contexts.</a:t>
            </a:r>
          </a:p>
          <a:p>
            <a:pPr marL="502920" indent="-457200" algn="jus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A good knowledge of the commonest figurative expressions like simile, metaphor, onomatopoeia, and idiomatic expressions is necessary for comprehension to take place.</a:t>
            </a:r>
          </a:p>
          <a:p>
            <a:pPr marL="502920" indent="-457200" algn="just">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Limit your answers to the information contained in or can be inferred from the passage before you.</a:t>
            </a:r>
            <a:endParaRPr lang="en-GB" sz="12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77605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2260602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0381403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2060064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The main idea serves as the summary of each paragraph in a passage. When you are going to summarize a text you have to read carefully and identify the topic sentences of each paragraph if there is any so that you will be able to get the main ideas. Moreover, it is important for you to distinguish between the main idea and the supporting sentences so that you do not include the illustrations and explanation. You also need to pay attention to transitional markers because they serve as sign posts that direct you to the various points that the writer is putting across in the text. </a:t>
            </a:r>
          </a:p>
          <a:p>
            <a:endParaRPr lang="en-US" dirty="0"/>
          </a:p>
        </p:txBody>
      </p:sp>
    </p:spTree>
    <p:extLst>
      <p:ext uri="{BB962C8B-B14F-4D97-AF65-F5344CB8AC3E}">
        <p14:creationId xmlns:p14="http://schemas.microsoft.com/office/powerpoint/2010/main" val="32421369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The main idea serves as the summary of each paragraph in a passage. When you are going to summarize a text you have to read carefully and identify the topic sentences of each paragraph if there is any so that you will be able to get the main ideas. Moreover, it is important for you to distinguish between the main idea and the supporting sentences so that you do not include the illustrations and explanation. You also need to pay attention to transitional markers because they serve as sign posts that direct you to the various points that the writer is putting across in the text. </a:t>
            </a:r>
          </a:p>
          <a:p>
            <a:endParaRPr lang="en-US" dirty="0"/>
          </a:p>
        </p:txBody>
      </p:sp>
    </p:spTree>
    <p:extLst>
      <p:ext uri="{BB962C8B-B14F-4D97-AF65-F5344CB8AC3E}">
        <p14:creationId xmlns:p14="http://schemas.microsoft.com/office/powerpoint/2010/main" val="8311849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2276086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645982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885807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2.jpg"/><Relationship Id="rId4" Type="http://schemas.openxmlformats.org/officeDocument/2006/relationships/hyperlink" Target="https://twitter.com/_knust_" TargetMode="Externa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7D831EC-AC7D-49A3-A94B-31FEDA151C24}" type="datetime1">
              <a:rPr lang="en-US" smtClean="0"/>
              <a:t>3/27/2024</a:t>
            </a:fld>
            <a:endParaRPr lang="en-US" dirty="0"/>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dirty="0"/>
          </a:p>
        </p:txBody>
      </p:sp>
      <p:grpSp>
        <p:nvGrpSpPr>
          <p:cNvPr id="7" name="Group 6"/>
          <p:cNvGrpSpPr/>
          <p:nvPr userDrawn="1"/>
        </p:nvGrpSpPr>
        <p:grpSpPr>
          <a:xfrm>
            <a:off x="0" y="1"/>
            <a:ext cx="12192000" cy="854748"/>
            <a:chOff x="0" y="1"/>
            <a:chExt cx="9144000" cy="854748"/>
          </a:xfrm>
        </p:grpSpPr>
        <p:sp>
          <p:nvSpPr>
            <p:cNvPr id="8" name="Rectangle 7"/>
            <p:cNvSpPr/>
            <p:nvPr/>
          </p:nvSpPr>
          <p:spPr>
            <a:xfrm>
              <a:off x="0" y="1"/>
              <a:ext cx="9144000" cy="854748"/>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9" name="TextBox 8"/>
            <p:cNvSpPr txBox="1"/>
            <p:nvPr/>
          </p:nvSpPr>
          <p:spPr>
            <a:xfrm>
              <a:off x="5487656" y="241270"/>
              <a:ext cx="3445328" cy="523220"/>
            </a:xfrm>
            <a:prstGeom prst="rect">
              <a:avLst/>
            </a:prstGeom>
            <a:noFill/>
          </p:spPr>
          <p:txBody>
            <a:bodyPr wrap="square" rtlCol="0">
              <a:spAutoFit/>
            </a:bodyPr>
            <a:lstStyle/>
            <a:p>
              <a:r>
                <a:rPr lang="en-US" sz="1400" dirty="0">
                  <a:solidFill>
                    <a:schemeClr val="bg1"/>
                  </a:solidFill>
                  <a:latin typeface="Helvetica"/>
                  <a:cs typeface="Helvetica"/>
                </a:rPr>
                <a:t>Kwame Nkrumah University of </a:t>
              </a:r>
            </a:p>
            <a:p>
              <a:r>
                <a:rPr lang="en-US" sz="1400" dirty="0">
                  <a:solidFill>
                    <a:schemeClr val="bg1"/>
                  </a:solidFill>
                  <a:latin typeface="Helvetica"/>
                  <a:cs typeface="Helvetica"/>
                </a:rPr>
                <a:t>Science &amp; Technology, Kumasi, Ghana</a:t>
              </a:r>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95789" y="157852"/>
              <a:ext cx="491867" cy="625979"/>
            </a:xfrm>
            <a:prstGeom prst="rect">
              <a:avLst/>
            </a:prstGeom>
          </p:spPr>
        </p:pic>
      </p:grpSp>
      <p:sp>
        <p:nvSpPr>
          <p:cNvPr id="11" name="Title 1"/>
          <p:cNvSpPr>
            <a:spLocks noGrp="1"/>
          </p:cNvSpPr>
          <p:nvPr>
            <p:ph type="ctrTitle"/>
          </p:nvPr>
        </p:nvSpPr>
        <p:spPr>
          <a:xfrm>
            <a:off x="914400" y="2167739"/>
            <a:ext cx="10363200" cy="1470025"/>
          </a:xfrm>
          <a:prstGeom prst="rect">
            <a:avLst/>
          </a:prstGeom>
        </p:spPr>
        <p:txBody>
          <a:bodyPr>
            <a:normAutofit/>
          </a:bodyPr>
          <a:lstStyle/>
          <a:p>
            <a:pPr algn="l"/>
            <a:r>
              <a:rPr lang="en-US" dirty="0">
                <a:latin typeface="Helvetica"/>
                <a:cs typeface="Helvetica"/>
              </a:rPr>
              <a:t>Title</a:t>
            </a:r>
          </a:p>
        </p:txBody>
      </p:sp>
      <p:sp>
        <p:nvSpPr>
          <p:cNvPr id="12" name="Subtitle 2"/>
          <p:cNvSpPr>
            <a:spLocks noGrp="1"/>
          </p:cNvSpPr>
          <p:nvPr>
            <p:ph type="subTitle" idx="1"/>
          </p:nvPr>
        </p:nvSpPr>
        <p:spPr>
          <a:xfrm>
            <a:off x="971341" y="4010849"/>
            <a:ext cx="8534400" cy="1599330"/>
          </a:xfrm>
        </p:spPr>
        <p:txBody>
          <a:bodyPr>
            <a:normAutofit/>
          </a:bodyPr>
          <a:lstStyle>
            <a:lvl1pPr marL="0" indent="0">
              <a:buNone/>
              <a:defRPr>
                <a:solidFill>
                  <a:schemeClr val="bg1">
                    <a:lumMod val="50000"/>
                  </a:schemeClr>
                </a:solidFill>
              </a:defRPr>
            </a:lvl1pPr>
          </a:lstStyle>
          <a:p>
            <a:pPr algn="l"/>
            <a:r>
              <a:rPr lang="en-US" b="1" dirty="0">
                <a:solidFill>
                  <a:schemeClr val="tx1"/>
                </a:solidFill>
                <a:latin typeface="Helvetica"/>
                <a:cs typeface="Helvetica"/>
              </a:rPr>
              <a:t>Name</a:t>
            </a:r>
          </a:p>
          <a:p>
            <a:pPr algn="l"/>
            <a:r>
              <a:rPr lang="en-US" sz="2400" b="1" dirty="0">
                <a:latin typeface="Helvetica"/>
                <a:cs typeface="Helvetica"/>
              </a:rPr>
              <a:t>Department</a:t>
            </a:r>
          </a:p>
          <a:p>
            <a:pPr algn="l"/>
            <a:r>
              <a:rPr lang="en-US" sz="2400" b="1" dirty="0">
                <a:latin typeface="Helvetica"/>
                <a:cs typeface="Helvetica"/>
              </a:rPr>
              <a:t>Faculty &amp; College</a:t>
            </a:r>
          </a:p>
        </p:txBody>
      </p:sp>
    </p:spTree>
    <p:extLst>
      <p:ext uri="{BB962C8B-B14F-4D97-AF65-F5344CB8AC3E}">
        <p14:creationId xmlns:p14="http://schemas.microsoft.com/office/powerpoint/2010/main" val="1026681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18128F2-9CEA-46CC-A856-FCAE808046E5}" type="datetime1">
              <a:rPr lang="en-US" smtClean="0"/>
              <a:t>3/27/2024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dirty="0"/>
          </a:p>
        </p:txBody>
      </p:sp>
      <p:grpSp>
        <p:nvGrpSpPr>
          <p:cNvPr id="7" name="Group 6"/>
          <p:cNvGrpSpPr/>
          <p:nvPr userDrawn="1"/>
        </p:nvGrpSpPr>
        <p:grpSpPr>
          <a:xfrm>
            <a:off x="0" y="5992944"/>
            <a:ext cx="12192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r>
                <a:rPr lang="en-US" sz="1200" dirty="0">
                  <a:solidFill>
                    <a:schemeClr val="bg1"/>
                  </a:solidFill>
                  <a:latin typeface="Helvetica"/>
                  <a:cs typeface="Helvetica"/>
                </a:rPr>
                <a:t>www.knust.edu.gh</a:t>
              </a: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14" name="Title 1"/>
          <p:cNvSpPr>
            <a:spLocks noGrp="1"/>
          </p:cNvSpPr>
          <p:nvPr>
            <p:ph type="title"/>
          </p:nvPr>
        </p:nvSpPr>
        <p:spPr>
          <a:xfrm>
            <a:off x="609600" y="274638"/>
            <a:ext cx="10972800" cy="1143000"/>
          </a:xfrm>
          <a:prstGeom prst="rect">
            <a:avLst/>
          </a:prstGeom>
        </p:spPr>
        <p:txBody>
          <a:bodyPr/>
          <a:lstStyle/>
          <a:p>
            <a:pPr algn="l"/>
            <a:r>
              <a:rPr lang="en-US" dirty="0">
                <a:solidFill>
                  <a:srgbClr val="008000"/>
                </a:solidFill>
                <a:latin typeface="Helvetica"/>
                <a:cs typeface="Helvetica"/>
              </a:rPr>
              <a:t>Introduction</a:t>
            </a:r>
          </a:p>
        </p:txBody>
      </p:sp>
    </p:spTree>
    <p:extLst>
      <p:ext uri="{BB962C8B-B14F-4D97-AF65-F5344CB8AC3E}">
        <p14:creationId xmlns:p14="http://schemas.microsoft.com/office/powerpoint/2010/main" val="3793904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6459C3-DDCE-4439-9AF3-BB5B8D8FEA89}" type="datetime1">
              <a:rPr lang="en-US" smtClean="0"/>
              <a:t>3/27/2024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dirty="0"/>
          </a:p>
        </p:txBody>
      </p:sp>
    </p:spTree>
    <p:extLst>
      <p:ext uri="{BB962C8B-B14F-4D97-AF65-F5344CB8AC3E}">
        <p14:creationId xmlns:p14="http://schemas.microsoft.com/office/powerpoint/2010/main" val="3130215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072F366-86F2-4497-80E6-4B95243A64A6}" type="datetime1">
              <a:rPr lang="en-US" smtClean="0"/>
              <a:t>3/27/2024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dirty="0"/>
          </a:p>
        </p:txBody>
      </p:sp>
    </p:spTree>
    <p:extLst>
      <p:ext uri="{BB962C8B-B14F-4D97-AF65-F5344CB8AC3E}">
        <p14:creationId xmlns:p14="http://schemas.microsoft.com/office/powerpoint/2010/main" val="2121567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ED8E618-EDFE-4BC3-B22B-2487D314E05A}" type="datetime1">
              <a:rPr lang="en-US" smtClean="0"/>
              <a:t>3/27/2024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F4801FD5-11B4-DE43-ACA2-E85EEB9A6F9C}" type="slidenum">
              <a:rPr lang="en-US" smtClean="0"/>
              <a:t>‹#›</a:t>
            </a:fld>
            <a:endParaRPr lang="en-US" dirty="0"/>
          </a:p>
        </p:txBody>
      </p:sp>
    </p:spTree>
    <p:extLst>
      <p:ext uri="{BB962C8B-B14F-4D97-AF65-F5344CB8AC3E}">
        <p14:creationId xmlns:p14="http://schemas.microsoft.com/office/powerpoint/2010/main" val="1501875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2729AE2F-F260-44DA-BEF8-DDA955F3FA44}" type="datetime1">
              <a:rPr lang="en-US" smtClean="0"/>
              <a:t>3/27/2024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F4801FD5-11B4-DE43-ACA2-E85EEB9A6F9C}" type="slidenum">
              <a:rPr lang="en-US" smtClean="0"/>
              <a:t>‹#›</a:t>
            </a:fld>
            <a:endParaRPr lang="en-US" dirty="0"/>
          </a:p>
        </p:txBody>
      </p:sp>
    </p:spTree>
    <p:extLst>
      <p:ext uri="{BB962C8B-B14F-4D97-AF65-F5344CB8AC3E}">
        <p14:creationId xmlns:p14="http://schemas.microsoft.com/office/powerpoint/2010/main" val="3821190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157C1D-72A7-4657-9D59-A2D789A90086}" type="datetime1">
              <a:rPr lang="en-US" smtClean="0"/>
              <a:t>3/27/2024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t>‹#›</a:t>
            </a:fld>
            <a:endParaRPr lang="en-US" dirty="0"/>
          </a:p>
        </p:txBody>
      </p:sp>
    </p:spTree>
    <p:extLst>
      <p:ext uri="{BB962C8B-B14F-4D97-AF65-F5344CB8AC3E}">
        <p14:creationId xmlns:p14="http://schemas.microsoft.com/office/powerpoint/2010/main" val="2112669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22CC29B-572D-4FD1-B7F1-AEBDF2D38A17}" type="datetime1">
              <a:rPr lang="en-US" smtClean="0"/>
              <a:t>3/27/2024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dirty="0"/>
          </a:p>
        </p:txBody>
      </p:sp>
    </p:spTree>
    <p:extLst>
      <p:ext uri="{BB962C8B-B14F-4D97-AF65-F5344CB8AC3E}">
        <p14:creationId xmlns:p14="http://schemas.microsoft.com/office/powerpoint/2010/main" val="914271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4EB9455-2367-499A-854A-065E003BFA30}" type="datetime1">
              <a:rPr lang="en-US" smtClean="0"/>
              <a:t>3/27/2024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dirty="0"/>
          </a:p>
        </p:txBody>
      </p:sp>
    </p:spTree>
    <p:extLst>
      <p:ext uri="{BB962C8B-B14F-4D97-AF65-F5344CB8AC3E}">
        <p14:creationId xmlns:p14="http://schemas.microsoft.com/office/powerpoint/2010/main" val="2278298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2FF636A-4474-4E9A-BE6E-BE266235D6B6}" type="datetime1">
              <a:rPr lang="en-US" smtClean="0"/>
              <a:t>3/27/2024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dirty="0"/>
          </a:p>
        </p:txBody>
      </p:sp>
    </p:spTree>
    <p:extLst>
      <p:ext uri="{BB962C8B-B14F-4D97-AF65-F5344CB8AC3E}">
        <p14:creationId xmlns:p14="http://schemas.microsoft.com/office/powerpoint/2010/main" val="41281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8C69E97-7E91-4BD1-8188-1E2606F08377}" type="datetime1">
              <a:rPr lang="en-US" smtClean="0"/>
              <a:t>3/27/2024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dirty="0"/>
          </a:p>
        </p:txBody>
      </p:sp>
    </p:spTree>
    <p:extLst>
      <p:ext uri="{BB962C8B-B14F-4D97-AF65-F5344CB8AC3E}">
        <p14:creationId xmlns:p14="http://schemas.microsoft.com/office/powerpoint/2010/main" val="2670795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46D559-514A-4E14-AB32-A150974490C6}" type="datetime1">
              <a:rPr lang="en-US" smtClean="0"/>
              <a:t>3/27/2024</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801FD5-11B4-DE43-ACA2-E85EEB9A6F9C}" type="slidenum">
              <a:rPr lang="en-US" smtClean="0"/>
              <a:t>‹#›</a:t>
            </a:fld>
            <a:endParaRPr lang="en-US" dirty="0"/>
          </a:p>
        </p:txBody>
      </p:sp>
    </p:spTree>
    <p:extLst>
      <p:ext uri="{BB962C8B-B14F-4D97-AF65-F5344CB8AC3E}">
        <p14:creationId xmlns:p14="http://schemas.microsoft.com/office/powerpoint/2010/main" val="2954336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khanacademy.org/test-prep/sat/new-sat-tips-planning/sat-reading-test-strategies/a/sat-active-reading-strategies-part-1-sq3r"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F355A1A3-E4CC-4EEA-A286-66DBF4C27119}"/>
              </a:ext>
            </a:extLst>
          </p:cNvPr>
          <p:cNvSpPr txBox="1"/>
          <p:nvPr/>
        </p:nvSpPr>
        <p:spPr>
          <a:xfrm>
            <a:off x="1509824" y="1713245"/>
            <a:ext cx="9484242" cy="625171"/>
          </a:xfrm>
          <a:prstGeom prst="rect">
            <a:avLst/>
          </a:prstGeom>
        </p:spPr>
        <p:txBody>
          <a:bodyPr vert="horz" wrap="square" lIns="0" tIns="9525" rIns="0" bIns="0" rtlCol="0">
            <a:spAutoFit/>
          </a:bodyPr>
          <a:lstStyle/>
          <a:p>
            <a:pPr marL="9525" algn="ctr">
              <a:spcBef>
                <a:spcPts val="75"/>
              </a:spcBef>
            </a:pPr>
            <a:r>
              <a:rPr lang="en-US" sz="4000" b="1" spc="-4" dirty="0">
                <a:solidFill>
                  <a:srgbClr val="008000"/>
                </a:solidFill>
                <a:latin typeface="Gotham" panose="02000504050000020004" pitchFamily="2" charset="0"/>
                <a:cs typeface="Arial"/>
              </a:rPr>
              <a:t>ENGL 157: COMMUNICATION SKILLS I</a:t>
            </a:r>
            <a:endParaRPr lang="en-US" sz="4000" dirty="0">
              <a:solidFill>
                <a:srgbClr val="008000"/>
              </a:solidFill>
              <a:latin typeface="Gotham" panose="02000504050000020004" pitchFamily="2" charset="0"/>
              <a:cs typeface="Arial"/>
            </a:endParaRPr>
          </a:p>
        </p:txBody>
      </p:sp>
      <p:sp>
        <p:nvSpPr>
          <p:cNvPr id="2" name="TextBox 1"/>
          <p:cNvSpPr txBox="1"/>
          <p:nvPr/>
        </p:nvSpPr>
        <p:spPr>
          <a:xfrm>
            <a:off x="2951017" y="3491345"/>
            <a:ext cx="7010400" cy="738664"/>
          </a:xfrm>
          <a:prstGeom prst="rect">
            <a:avLst/>
          </a:prstGeom>
          <a:noFill/>
        </p:spPr>
        <p:txBody>
          <a:bodyPr wrap="square" rtlCol="0">
            <a:spAutoFit/>
          </a:bodyPr>
          <a:lstStyle/>
          <a:p>
            <a:r>
              <a:rPr lang="en-GB" sz="2400" b="1" dirty="0">
                <a:latin typeface="Times New Roman" panose="02020603050405020304" pitchFamily="18" charset="0"/>
                <a:cs typeface="Times New Roman" panose="02020603050405020304" pitchFamily="18" charset="0"/>
              </a:rPr>
              <a:t>Lecture 13</a:t>
            </a:r>
            <a:r>
              <a:rPr lang="en-GB" sz="2400" dirty="0">
                <a:latin typeface="Times New Roman" panose="02020603050405020304" pitchFamily="18" charset="0"/>
                <a:cs typeface="Times New Roman" panose="02020603050405020304" pitchFamily="18" charset="0"/>
              </a:rPr>
              <a:t>: Text Comprehension &amp; Summary Writing  </a:t>
            </a:r>
          </a:p>
          <a:p>
            <a:endParaRPr lang="en-US" dirty="0"/>
          </a:p>
        </p:txBody>
      </p:sp>
    </p:spTree>
    <p:extLst>
      <p:ext uri="{BB962C8B-B14F-4D97-AF65-F5344CB8AC3E}">
        <p14:creationId xmlns:p14="http://schemas.microsoft.com/office/powerpoint/2010/main" val="15255438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AA308CE6-9A3D-4A15-B240-67ED59062F4C}"/>
              </a:ext>
            </a:extLst>
          </p:cNvPr>
          <p:cNvSpPr txBox="1"/>
          <p:nvPr/>
        </p:nvSpPr>
        <p:spPr>
          <a:xfrm>
            <a:off x="628650" y="343149"/>
            <a:ext cx="7642514" cy="471283"/>
          </a:xfrm>
          <a:prstGeom prst="rect">
            <a:avLst/>
          </a:prstGeom>
        </p:spPr>
        <p:txBody>
          <a:bodyPr vert="horz" wrap="square" lIns="0" tIns="9525" rIns="0" bIns="0" rtlCol="0">
            <a:spAutoFit/>
          </a:bodyPr>
          <a:lstStyle/>
          <a:p>
            <a:pPr marL="9525">
              <a:spcBef>
                <a:spcPts val="75"/>
              </a:spcBef>
            </a:pPr>
            <a:r>
              <a:rPr lang="en-US" sz="3000" b="1" spc="-4" dirty="0">
                <a:solidFill>
                  <a:srgbClr val="008000"/>
                </a:solidFill>
                <a:latin typeface="Gotham" panose="02000504050000020004" pitchFamily="2" charset="0"/>
                <a:cs typeface="Arial"/>
              </a:rPr>
              <a:t>AIMS OF THE LECTURE </a:t>
            </a:r>
            <a:endParaRPr lang="en-US" sz="3000" dirty="0">
              <a:solidFill>
                <a:srgbClr val="008000"/>
              </a:solidFill>
              <a:latin typeface="Gotham" panose="02000504050000020004" pitchFamily="2" charset="0"/>
              <a:cs typeface="Arial"/>
            </a:endParaRPr>
          </a:p>
        </p:txBody>
      </p:sp>
      <p:sp>
        <p:nvSpPr>
          <p:cNvPr id="2" name="TextBox 1"/>
          <p:cNvSpPr txBox="1"/>
          <p:nvPr/>
        </p:nvSpPr>
        <p:spPr>
          <a:xfrm>
            <a:off x="872837" y="1396324"/>
            <a:ext cx="8797636" cy="2215991"/>
          </a:xfrm>
          <a:prstGeom prst="rect">
            <a:avLst/>
          </a:prstGeom>
          <a:noFill/>
        </p:spPr>
        <p:txBody>
          <a:bodyPr wrap="square" rtlCol="0">
            <a:spAutoFit/>
          </a:bodyPr>
          <a:lstStyle/>
          <a:p>
            <a:r>
              <a:rPr lang="en-GB" sz="2400" dirty="0">
                <a:latin typeface="Times New Roman" panose="02020603050405020304" pitchFamily="18" charset="0"/>
                <a:cs typeface="Times New Roman" panose="02020603050405020304" pitchFamily="18" charset="0"/>
              </a:rPr>
              <a:t>The aims of this lecture are as follows:</a:t>
            </a:r>
          </a:p>
          <a:p>
            <a:endParaRPr lang="en-GB"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to introduce students to how to read comprehension texts</a:t>
            </a:r>
          </a:p>
          <a:p>
            <a:pPr>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to discuss how to answer comprehension questions </a:t>
            </a:r>
          </a:p>
          <a:p>
            <a:pPr>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to learn about summary and how to write a summary of a text </a:t>
            </a:r>
          </a:p>
          <a:p>
            <a:endParaRPr lang="en-US" dirty="0"/>
          </a:p>
        </p:txBody>
      </p:sp>
      <p:sp>
        <p:nvSpPr>
          <p:cNvPr id="4" name="Slide Number Placeholder 3"/>
          <p:cNvSpPr>
            <a:spLocks noGrp="1"/>
          </p:cNvSpPr>
          <p:nvPr>
            <p:ph type="sldNum" sz="quarter" idx="12"/>
          </p:nvPr>
        </p:nvSpPr>
        <p:spPr/>
        <p:txBody>
          <a:bodyPr/>
          <a:lstStyle/>
          <a:p>
            <a:fld id="{F4801FD5-11B4-DE43-ACA2-E85EEB9A6F9C}" type="slidenum">
              <a:rPr lang="en-US" smtClean="0"/>
              <a:t>2</a:t>
            </a:fld>
            <a:endParaRPr lang="en-US" dirty="0"/>
          </a:p>
        </p:txBody>
      </p:sp>
    </p:spTree>
    <p:extLst>
      <p:ext uri="{BB962C8B-B14F-4D97-AF65-F5344CB8AC3E}">
        <p14:creationId xmlns:p14="http://schemas.microsoft.com/office/powerpoint/2010/main" val="3728146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AA308CE6-9A3D-4A15-B240-67ED59062F4C}"/>
              </a:ext>
            </a:extLst>
          </p:cNvPr>
          <p:cNvSpPr txBox="1"/>
          <p:nvPr/>
        </p:nvSpPr>
        <p:spPr>
          <a:xfrm>
            <a:off x="628650" y="421832"/>
            <a:ext cx="10725150" cy="471283"/>
          </a:xfrm>
          <a:prstGeom prst="rect">
            <a:avLst/>
          </a:prstGeom>
        </p:spPr>
        <p:txBody>
          <a:bodyPr vert="horz" wrap="square" lIns="0" tIns="9525" rIns="0" bIns="0" rtlCol="0">
            <a:spAutoFit/>
          </a:bodyPr>
          <a:lstStyle/>
          <a:p>
            <a:pPr marL="9525">
              <a:spcBef>
                <a:spcPts val="75"/>
              </a:spcBef>
            </a:pPr>
            <a:r>
              <a:rPr lang="en-US" sz="3000" b="1" spc="-4" dirty="0">
                <a:solidFill>
                  <a:srgbClr val="008000"/>
                </a:solidFill>
                <a:latin typeface="Gotham" panose="02000504050000020004" pitchFamily="2" charset="0"/>
                <a:cs typeface="Arial"/>
              </a:rPr>
              <a:t>READING &amp; COMPREHENSION</a:t>
            </a:r>
            <a:endParaRPr lang="en-US" sz="3000" dirty="0">
              <a:solidFill>
                <a:srgbClr val="008000"/>
              </a:solidFill>
              <a:latin typeface="Gotham" panose="02000504050000020004" pitchFamily="2" charset="0"/>
              <a:cs typeface="Arial"/>
            </a:endParaRPr>
          </a:p>
        </p:txBody>
      </p:sp>
      <p:sp>
        <p:nvSpPr>
          <p:cNvPr id="6" name="TextBox 5">
            <a:extLst>
              <a:ext uri="{FF2B5EF4-FFF2-40B4-BE49-F238E27FC236}">
                <a16:creationId xmlns:a16="http://schemas.microsoft.com/office/drawing/2014/main" id="{D687606E-2D98-4A1A-8A97-39D60D5C7512}"/>
              </a:ext>
            </a:extLst>
          </p:cNvPr>
          <p:cNvSpPr txBox="1"/>
          <p:nvPr/>
        </p:nvSpPr>
        <p:spPr>
          <a:xfrm>
            <a:off x="234662" y="941103"/>
            <a:ext cx="11513126" cy="4676858"/>
          </a:xfrm>
          <a:prstGeom prst="rect">
            <a:avLst/>
          </a:prstGeom>
          <a:noFill/>
        </p:spPr>
        <p:txBody>
          <a:bodyPr wrap="square">
            <a:spAutoFit/>
          </a:bodyPr>
          <a:lstStyle/>
          <a:p>
            <a:pPr marL="352425" marR="395764" indent="-342900" algn="just">
              <a:lnSpc>
                <a:spcPct val="100800"/>
              </a:lnSpc>
              <a:spcBef>
                <a:spcPts val="56"/>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Reading is not merely a physical or visual contact with written symbols. It is rather a way of decoding, interpreting or making meaning from these symbols.</a:t>
            </a:r>
          </a:p>
          <a:p>
            <a:pPr marL="9525" marR="395764" algn="just">
              <a:lnSpc>
                <a:spcPct val="100800"/>
              </a:lnSpc>
              <a:spcBef>
                <a:spcPts val="56"/>
              </a:spcBef>
            </a:pPr>
            <a:endParaRPr lang="en-US" sz="1200" dirty="0">
              <a:latin typeface="Times New Roman" panose="02020603050405020304" pitchFamily="18" charset="0"/>
              <a:cs typeface="Times New Roman" panose="02020603050405020304" pitchFamily="18" charset="0"/>
            </a:endParaRPr>
          </a:p>
          <a:p>
            <a:pPr marL="352425" marR="395764" indent="-342900" algn="just">
              <a:lnSpc>
                <a:spcPct val="100800"/>
              </a:lnSpc>
              <a:spcBef>
                <a:spcPts val="56"/>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Two kinds of reading can be discussed, which are </a:t>
            </a:r>
            <a:r>
              <a:rPr lang="en-US" sz="2200" b="1" dirty="0">
                <a:latin typeface="Times New Roman" panose="02020603050405020304" pitchFamily="18" charset="0"/>
                <a:cs typeface="Times New Roman" panose="02020603050405020304" pitchFamily="18" charset="0"/>
              </a:rPr>
              <a:t>reading aloud </a:t>
            </a:r>
            <a:r>
              <a:rPr lang="en-US" sz="2200" dirty="0">
                <a:latin typeface="Times New Roman" panose="02020603050405020304" pitchFamily="18" charset="0"/>
                <a:cs typeface="Times New Roman" panose="02020603050405020304" pitchFamily="18" charset="0"/>
              </a:rPr>
              <a:t>and </a:t>
            </a:r>
            <a:r>
              <a:rPr lang="en-US" sz="2200" b="1" dirty="0">
                <a:latin typeface="Times New Roman" panose="02020603050405020304" pitchFamily="18" charset="0"/>
                <a:cs typeface="Times New Roman" panose="02020603050405020304" pitchFamily="18" charset="0"/>
              </a:rPr>
              <a:t>reading for comprehension</a:t>
            </a:r>
            <a:r>
              <a:rPr lang="en-US" sz="2200" dirty="0">
                <a:latin typeface="Times New Roman" panose="02020603050405020304" pitchFamily="18" charset="0"/>
                <a:cs typeface="Times New Roman" panose="02020603050405020304" pitchFamily="18" charset="0"/>
              </a:rPr>
              <a:t>.</a:t>
            </a:r>
          </a:p>
          <a:p>
            <a:pPr marL="9525" marR="395764" algn="just">
              <a:lnSpc>
                <a:spcPct val="100800"/>
              </a:lnSpc>
              <a:spcBef>
                <a:spcPts val="56"/>
              </a:spcBef>
            </a:pPr>
            <a:r>
              <a:rPr lang="en-US" sz="2200" dirty="0">
                <a:latin typeface="Times New Roman" panose="02020603050405020304" pitchFamily="18" charset="0"/>
                <a:cs typeface="Times New Roman" panose="02020603050405020304" pitchFamily="18" charset="0"/>
              </a:rPr>
              <a:t>	- </a:t>
            </a:r>
            <a:r>
              <a:rPr lang="en-US" sz="2200" b="1" dirty="0">
                <a:latin typeface="Times New Roman" panose="02020603050405020304" pitchFamily="18" charset="0"/>
                <a:cs typeface="Times New Roman" panose="02020603050405020304" pitchFamily="18" charset="0"/>
              </a:rPr>
              <a:t>Reading Aloud: </a:t>
            </a:r>
            <a:r>
              <a:rPr lang="en-US" sz="2200" dirty="0">
                <a:latin typeface="Times New Roman" panose="02020603050405020304" pitchFamily="18" charset="0"/>
                <a:cs typeface="Times New Roman" panose="02020603050405020304" pitchFamily="18" charset="0"/>
              </a:rPr>
              <a:t>Generally occurs during early years, and the focus is to help readers 	acquaint themselves with the relationship between the alphabetic symbols, or their 	combinations, and the sounds associated with them. </a:t>
            </a:r>
          </a:p>
          <a:p>
            <a:pPr marL="9525" marR="395764" algn="just">
              <a:lnSpc>
                <a:spcPct val="100800"/>
              </a:lnSpc>
              <a:spcBef>
                <a:spcPts val="56"/>
              </a:spcBef>
            </a:pPr>
            <a:endParaRPr lang="en-US" sz="1200" dirty="0">
              <a:latin typeface="Times New Roman" panose="02020603050405020304" pitchFamily="18" charset="0"/>
              <a:cs typeface="Times New Roman" panose="02020603050405020304" pitchFamily="18" charset="0"/>
            </a:endParaRPr>
          </a:p>
          <a:p>
            <a:pPr marL="9525" marR="395764" algn="just">
              <a:lnSpc>
                <a:spcPct val="100800"/>
              </a:lnSpc>
              <a:spcBef>
                <a:spcPts val="56"/>
              </a:spcBef>
            </a:pPr>
            <a:r>
              <a:rPr lang="en-US" sz="2200" dirty="0">
                <a:latin typeface="Times New Roman" panose="02020603050405020304" pitchFamily="18" charset="0"/>
                <a:cs typeface="Times New Roman" panose="02020603050405020304" pitchFamily="18" charset="0"/>
              </a:rPr>
              <a:t>	- </a:t>
            </a:r>
            <a:r>
              <a:rPr lang="en-US" sz="2200" b="1" dirty="0">
                <a:latin typeface="Times New Roman" panose="02020603050405020304" pitchFamily="18" charset="0"/>
                <a:cs typeface="Times New Roman" panose="02020603050405020304" pitchFamily="18" charset="0"/>
              </a:rPr>
              <a:t>Reading for comprehension: </a:t>
            </a:r>
            <a:r>
              <a:rPr lang="en-US" sz="2200" dirty="0">
                <a:latin typeface="Times New Roman" panose="02020603050405020304" pitchFamily="18" charset="0"/>
                <a:cs typeface="Times New Roman" panose="02020603050405020304" pitchFamily="18" charset="0"/>
              </a:rPr>
              <a:t>This is the kind of reading which involves the understanding 	of the phonetic components and the meanings that are embedded in the stresses and 	intonations. Reading here is a direct relationship between orthography (writing) and 	meaning. </a:t>
            </a:r>
          </a:p>
          <a:p>
            <a:pPr marL="352425" marR="395764" indent="-342900">
              <a:lnSpc>
                <a:spcPct val="100800"/>
              </a:lnSpc>
              <a:spcBef>
                <a:spcPts val="56"/>
              </a:spcBef>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F4801FD5-11B4-DE43-ACA2-E85EEB9A6F9C}" type="slidenum">
              <a:rPr lang="en-US" smtClean="0"/>
              <a:t>3</a:t>
            </a:fld>
            <a:endParaRPr lang="en-US" dirty="0"/>
          </a:p>
        </p:txBody>
      </p:sp>
    </p:spTree>
    <p:extLst>
      <p:ext uri="{BB962C8B-B14F-4D97-AF65-F5344CB8AC3E}">
        <p14:creationId xmlns:p14="http://schemas.microsoft.com/office/powerpoint/2010/main" val="1375530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AA308CE6-9A3D-4A15-B240-67ED59062F4C}"/>
              </a:ext>
            </a:extLst>
          </p:cNvPr>
          <p:cNvSpPr txBox="1"/>
          <p:nvPr/>
        </p:nvSpPr>
        <p:spPr>
          <a:xfrm>
            <a:off x="628650" y="421832"/>
            <a:ext cx="10725150" cy="471283"/>
          </a:xfrm>
          <a:prstGeom prst="rect">
            <a:avLst/>
          </a:prstGeom>
        </p:spPr>
        <p:txBody>
          <a:bodyPr vert="horz" wrap="square" lIns="0" tIns="9525" rIns="0" bIns="0" rtlCol="0">
            <a:spAutoFit/>
          </a:bodyPr>
          <a:lstStyle/>
          <a:p>
            <a:pPr marL="9525">
              <a:spcBef>
                <a:spcPts val="75"/>
              </a:spcBef>
            </a:pPr>
            <a:r>
              <a:rPr lang="en-US" sz="3000" b="1" spc="-4" dirty="0">
                <a:solidFill>
                  <a:srgbClr val="008000"/>
                </a:solidFill>
                <a:latin typeface="Gotham" panose="02000504050000020004" pitchFamily="2" charset="0"/>
                <a:cs typeface="Arial"/>
              </a:rPr>
              <a:t>IMPORTANCE OF READING </a:t>
            </a:r>
            <a:endParaRPr lang="en-US" sz="3000" dirty="0">
              <a:solidFill>
                <a:srgbClr val="008000"/>
              </a:solidFill>
              <a:latin typeface="Gotham" panose="02000504050000020004" pitchFamily="2" charset="0"/>
              <a:cs typeface="Arial"/>
            </a:endParaRPr>
          </a:p>
        </p:txBody>
      </p:sp>
      <p:sp>
        <p:nvSpPr>
          <p:cNvPr id="6" name="TextBox 5">
            <a:extLst>
              <a:ext uri="{FF2B5EF4-FFF2-40B4-BE49-F238E27FC236}">
                <a16:creationId xmlns:a16="http://schemas.microsoft.com/office/drawing/2014/main" id="{D687606E-2D98-4A1A-8A97-39D60D5C7512}"/>
              </a:ext>
            </a:extLst>
          </p:cNvPr>
          <p:cNvSpPr txBox="1"/>
          <p:nvPr/>
        </p:nvSpPr>
        <p:spPr>
          <a:xfrm>
            <a:off x="628650" y="1047004"/>
            <a:ext cx="9663666" cy="3694858"/>
          </a:xfrm>
          <a:prstGeom prst="rect">
            <a:avLst/>
          </a:prstGeom>
          <a:noFill/>
        </p:spPr>
        <p:txBody>
          <a:bodyPr wrap="square">
            <a:spAutoFit/>
          </a:bodyPr>
          <a:lstStyle/>
          <a:p>
            <a:pPr marL="352425" marR="395764" indent="-342900">
              <a:lnSpc>
                <a:spcPct val="100800"/>
              </a:lnSpc>
              <a:spcBef>
                <a:spcPts val="56"/>
              </a:spcBef>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It gives a reader/person access to (new) information.</a:t>
            </a:r>
          </a:p>
          <a:p>
            <a:pPr marL="352425" marR="395764" indent="-342900">
              <a:lnSpc>
                <a:spcPct val="100800"/>
              </a:lnSpc>
              <a:spcBef>
                <a:spcPts val="56"/>
              </a:spcBef>
              <a:buFont typeface="Arial" panose="020B0604020202020204" pitchFamily="34" charset="0"/>
              <a:buChar char="•"/>
            </a:pPr>
            <a:endParaRPr lang="en-US" sz="900" dirty="0">
              <a:latin typeface="Times New Roman" panose="02020603050405020304" pitchFamily="18" charset="0"/>
              <a:cs typeface="Times New Roman" panose="02020603050405020304" pitchFamily="18" charset="0"/>
            </a:endParaRPr>
          </a:p>
          <a:p>
            <a:pPr marL="352425" marR="395764" indent="-342900">
              <a:lnSpc>
                <a:spcPct val="100800"/>
              </a:lnSpc>
              <a:spcBef>
                <a:spcPts val="56"/>
              </a:spcBef>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It enables a reader/person to crosscheck information received from other people.</a:t>
            </a:r>
          </a:p>
          <a:p>
            <a:pPr marL="352425" marR="395764" indent="-342900">
              <a:lnSpc>
                <a:spcPct val="100800"/>
              </a:lnSpc>
              <a:spcBef>
                <a:spcPts val="56"/>
              </a:spcBef>
              <a:buFont typeface="Arial" panose="020B0604020202020204" pitchFamily="34" charset="0"/>
              <a:buChar char="•"/>
            </a:pPr>
            <a:endParaRPr lang="en-US" sz="900" dirty="0">
              <a:latin typeface="Times New Roman" panose="02020603050405020304" pitchFamily="18" charset="0"/>
              <a:cs typeface="Times New Roman" panose="02020603050405020304" pitchFamily="18" charset="0"/>
            </a:endParaRPr>
          </a:p>
          <a:p>
            <a:pPr marL="352425" marR="395764" indent="-342900">
              <a:lnSpc>
                <a:spcPct val="100800"/>
              </a:lnSpc>
              <a:spcBef>
                <a:spcPts val="56"/>
              </a:spcBef>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Reading helps a reader/person to do revision to what has been written.</a:t>
            </a:r>
          </a:p>
          <a:p>
            <a:pPr marL="352425" marR="395764" indent="-342900">
              <a:lnSpc>
                <a:spcPct val="100800"/>
              </a:lnSpc>
              <a:spcBef>
                <a:spcPts val="56"/>
              </a:spcBef>
              <a:buFont typeface="Arial" panose="020B0604020202020204" pitchFamily="34" charset="0"/>
              <a:buChar char="•"/>
            </a:pPr>
            <a:endParaRPr lang="en-US" sz="900" dirty="0">
              <a:latin typeface="Times New Roman" panose="02020603050405020304" pitchFamily="18" charset="0"/>
              <a:cs typeface="Times New Roman" panose="02020603050405020304" pitchFamily="18" charset="0"/>
            </a:endParaRPr>
          </a:p>
          <a:p>
            <a:pPr marL="352425" marR="395764" indent="-342900">
              <a:lnSpc>
                <a:spcPct val="100800"/>
              </a:lnSpc>
              <a:spcBef>
                <a:spcPts val="56"/>
              </a:spcBef>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Reading helps a reader/person to know the demands of questions and other instructions.  </a:t>
            </a:r>
          </a:p>
          <a:p>
            <a:pPr marL="352425" marR="395764" indent="-342900">
              <a:lnSpc>
                <a:spcPct val="100800"/>
              </a:lnSpc>
              <a:spcBef>
                <a:spcPts val="56"/>
              </a:spcBef>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F4801FD5-11B4-DE43-ACA2-E85EEB9A6F9C}" type="slidenum">
              <a:rPr lang="en-US" smtClean="0"/>
              <a:t>4</a:t>
            </a:fld>
            <a:endParaRPr lang="en-US" dirty="0"/>
          </a:p>
        </p:txBody>
      </p:sp>
    </p:spTree>
    <p:extLst>
      <p:ext uri="{BB962C8B-B14F-4D97-AF65-F5344CB8AC3E}">
        <p14:creationId xmlns:p14="http://schemas.microsoft.com/office/powerpoint/2010/main" val="41847095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AA308CE6-9A3D-4A15-B240-67ED59062F4C}"/>
              </a:ext>
            </a:extLst>
          </p:cNvPr>
          <p:cNvSpPr txBox="1"/>
          <p:nvPr/>
        </p:nvSpPr>
        <p:spPr>
          <a:xfrm>
            <a:off x="628650" y="421832"/>
            <a:ext cx="10725150" cy="471283"/>
          </a:xfrm>
          <a:prstGeom prst="rect">
            <a:avLst/>
          </a:prstGeom>
        </p:spPr>
        <p:txBody>
          <a:bodyPr vert="horz" wrap="square" lIns="0" tIns="9525" rIns="0" bIns="0" rtlCol="0">
            <a:spAutoFit/>
          </a:bodyPr>
          <a:lstStyle/>
          <a:p>
            <a:pPr marL="9525">
              <a:spcBef>
                <a:spcPts val="75"/>
              </a:spcBef>
            </a:pPr>
            <a:r>
              <a:rPr lang="en-US" sz="3000" b="1" spc="-4" dirty="0">
                <a:solidFill>
                  <a:srgbClr val="008000"/>
                </a:solidFill>
                <a:latin typeface="Gotham" panose="02000504050000020004" pitchFamily="2" charset="0"/>
                <a:cs typeface="Arial"/>
              </a:rPr>
              <a:t>COMPREHENSION </a:t>
            </a:r>
            <a:endParaRPr lang="en-US" sz="3000" dirty="0">
              <a:solidFill>
                <a:srgbClr val="008000"/>
              </a:solidFill>
              <a:latin typeface="Gotham" panose="02000504050000020004" pitchFamily="2" charset="0"/>
              <a:cs typeface="Arial"/>
            </a:endParaRPr>
          </a:p>
        </p:txBody>
      </p:sp>
      <p:sp>
        <p:nvSpPr>
          <p:cNvPr id="6" name="TextBox 5">
            <a:extLst>
              <a:ext uri="{FF2B5EF4-FFF2-40B4-BE49-F238E27FC236}">
                <a16:creationId xmlns:a16="http://schemas.microsoft.com/office/drawing/2014/main" id="{D687606E-2D98-4A1A-8A97-39D60D5C7512}"/>
              </a:ext>
            </a:extLst>
          </p:cNvPr>
          <p:cNvSpPr txBox="1"/>
          <p:nvPr/>
        </p:nvSpPr>
        <p:spPr>
          <a:xfrm>
            <a:off x="628650" y="1074712"/>
            <a:ext cx="10565823" cy="3342710"/>
          </a:xfrm>
          <a:prstGeom prst="rect">
            <a:avLst/>
          </a:prstGeom>
          <a:noFill/>
        </p:spPr>
        <p:txBody>
          <a:bodyPr wrap="square">
            <a:spAutoFit/>
          </a:bodyPr>
          <a:lstStyle/>
          <a:p>
            <a:pPr marL="352425" marR="395764" indent="-342900">
              <a:lnSpc>
                <a:spcPct val="100800"/>
              </a:lnSpc>
              <a:spcBef>
                <a:spcPts val="56"/>
              </a:spcBef>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Comprehension is the understanding and interpretation of what is read. To be able to accurately understand written materials, learners need to be able to achieve the following:</a:t>
            </a:r>
          </a:p>
          <a:p>
            <a:pPr marL="9525" marR="395764">
              <a:lnSpc>
                <a:spcPct val="100800"/>
              </a:lnSpc>
              <a:spcBef>
                <a:spcPts val="56"/>
              </a:spcBef>
            </a:pPr>
            <a:endParaRPr lang="en-US" sz="1000" dirty="0">
              <a:latin typeface="Times New Roman" panose="02020603050405020304" pitchFamily="18" charset="0"/>
              <a:cs typeface="Times New Roman" panose="02020603050405020304" pitchFamily="18" charset="0"/>
            </a:endParaRPr>
          </a:p>
          <a:p>
            <a:pPr marL="9525" marR="395764">
              <a:lnSpc>
                <a:spcPct val="100800"/>
              </a:lnSpc>
              <a:spcBef>
                <a:spcPts val="56"/>
              </a:spcBef>
            </a:pPr>
            <a:r>
              <a:rPr lang="en-US" sz="2500" dirty="0">
                <a:latin typeface="Times New Roman" panose="02020603050405020304" pitchFamily="18" charset="0"/>
                <a:cs typeface="Times New Roman" panose="02020603050405020304" pitchFamily="18" charset="0"/>
              </a:rPr>
              <a:t>	- decode what they read;</a:t>
            </a:r>
          </a:p>
          <a:p>
            <a:pPr marL="9525" marR="395764">
              <a:lnSpc>
                <a:spcPct val="100800"/>
              </a:lnSpc>
              <a:spcBef>
                <a:spcPts val="56"/>
              </a:spcBef>
            </a:pPr>
            <a:r>
              <a:rPr lang="en-US" sz="2500" dirty="0">
                <a:latin typeface="Times New Roman" panose="02020603050405020304" pitchFamily="18" charset="0"/>
                <a:cs typeface="Times New Roman" panose="02020603050405020304" pitchFamily="18" charset="0"/>
              </a:rPr>
              <a:t>	- make connections between what they read and what they already 	  	    	  know; and </a:t>
            </a:r>
          </a:p>
          <a:p>
            <a:pPr marL="9525" marR="395764">
              <a:lnSpc>
                <a:spcPct val="100800"/>
              </a:lnSpc>
              <a:spcBef>
                <a:spcPts val="56"/>
              </a:spcBef>
            </a:pPr>
            <a:r>
              <a:rPr lang="en-US" sz="2500" dirty="0">
                <a:latin typeface="Times New Roman" panose="02020603050405020304" pitchFamily="18" charset="0"/>
                <a:cs typeface="Times New Roman" panose="02020603050405020304" pitchFamily="18" charset="0"/>
              </a:rPr>
              <a:t>	- think deeply about what they have read.</a:t>
            </a:r>
          </a:p>
          <a:p>
            <a:pPr marL="9525" marR="395764">
              <a:lnSpc>
                <a:spcPct val="100800"/>
              </a:lnSpc>
              <a:spcBef>
                <a:spcPts val="56"/>
              </a:spcBef>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Wornyo</a:t>
            </a:r>
            <a:r>
              <a:rPr lang="en-US" sz="2000" dirty="0">
                <a:latin typeface="Times New Roman" panose="02020603050405020304" pitchFamily="18" charset="0"/>
                <a:cs typeface="Times New Roman" panose="02020603050405020304" pitchFamily="18" charset="0"/>
              </a:rPr>
              <a:t> 2013)</a:t>
            </a:r>
          </a:p>
        </p:txBody>
      </p:sp>
      <p:sp>
        <p:nvSpPr>
          <p:cNvPr id="2" name="Slide Number Placeholder 1"/>
          <p:cNvSpPr>
            <a:spLocks noGrp="1"/>
          </p:cNvSpPr>
          <p:nvPr>
            <p:ph type="sldNum" sz="quarter" idx="12"/>
          </p:nvPr>
        </p:nvSpPr>
        <p:spPr/>
        <p:txBody>
          <a:bodyPr/>
          <a:lstStyle/>
          <a:p>
            <a:fld id="{F4801FD5-11B4-DE43-ACA2-E85EEB9A6F9C}" type="slidenum">
              <a:rPr lang="en-US" smtClean="0"/>
              <a:t>5</a:t>
            </a:fld>
            <a:endParaRPr lang="en-US" dirty="0"/>
          </a:p>
        </p:txBody>
      </p:sp>
    </p:spTree>
    <p:extLst>
      <p:ext uri="{BB962C8B-B14F-4D97-AF65-F5344CB8AC3E}">
        <p14:creationId xmlns:p14="http://schemas.microsoft.com/office/powerpoint/2010/main" val="10277748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AA308CE6-9A3D-4A15-B240-67ED59062F4C}"/>
              </a:ext>
            </a:extLst>
          </p:cNvPr>
          <p:cNvSpPr txBox="1"/>
          <p:nvPr/>
        </p:nvSpPr>
        <p:spPr>
          <a:xfrm>
            <a:off x="628650" y="421832"/>
            <a:ext cx="10725150" cy="471283"/>
          </a:xfrm>
          <a:prstGeom prst="rect">
            <a:avLst/>
          </a:prstGeom>
        </p:spPr>
        <p:txBody>
          <a:bodyPr vert="horz" wrap="square" lIns="0" tIns="9525" rIns="0" bIns="0" rtlCol="0">
            <a:spAutoFit/>
          </a:bodyPr>
          <a:lstStyle/>
          <a:p>
            <a:pPr marL="9525">
              <a:spcBef>
                <a:spcPts val="75"/>
              </a:spcBef>
            </a:pPr>
            <a:r>
              <a:rPr lang="en-US" sz="3000" b="1" spc="-4" dirty="0">
                <a:solidFill>
                  <a:srgbClr val="008000"/>
                </a:solidFill>
                <a:latin typeface="Gotham" panose="02000504050000020004" pitchFamily="2" charset="0"/>
                <a:cs typeface="Arial"/>
              </a:rPr>
              <a:t>COMPREHENSION                                                                   </a:t>
            </a:r>
            <a:r>
              <a:rPr lang="en-US" sz="3000" b="1" spc="-4" dirty="0" err="1">
                <a:solidFill>
                  <a:srgbClr val="008000"/>
                </a:solidFill>
                <a:latin typeface="Gotham" panose="02000504050000020004" pitchFamily="2" charset="0"/>
                <a:cs typeface="Arial"/>
              </a:rPr>
              <a:t>con’t</a:t>
            </a:r>
            <a:r>
              <a:rPr lang="en-US" sz="3000" b="1" spc="-4" dirty="0">
                <a:solidFill>
                  <a:srgbClr val="008000"/>
                </a:solidFill>
                <a:latin typeface="Gotham" panose="02000504050000020004" pitchFamily="2" charset="0"/>
                <a:cs typeface="Arial"/>
              </a:rPr>
              <a:t>  </a:t>
            </a:r>
            <a:endParaRPr lang="en-US" sz="3000" dirty="0">
              <a:solidFill>
                <a:srgbClr val="008000"/>
              </a:solidFill>
              <a:latin typeface="Gotham" panose="02000504050000020004" pitchFamily="2" charset="0"/>
              <a:cs typeface="Arial"/>
            </a:endParaRPr>
          </a:p>
        </p:txBody>
      </p:sp>
      <p:sp>
        <p:nvSpPr>
          <p:cNvPr id="6" name="TextBox 5">
            <a:extLst>
              <a:ext uri="{FF2B5EF4-FFF2-40B4-BE49-F238E27FC236}">
                <a16:creationId xmlns:a16="http://schemas.microsoft.com/office/drawing/2014/main" id="{D687606E-2D98-4A1A-8A97-39D60D5C7512}"/>
              </a:ext>
            </a:extLst>
          </p:cNvPr>
          <p:cNvSpPr txBox="1"/>
          <p:nvPr/>
        </p:nvSpPr>
        <p:spPr>
          <a:xfrm>
            <a:off x="628650" y="1047004"/>
            <a:ext cx="10725150" cy="3563027"/>
          </a:xfrm>
          <a:prstGeom prst="rect">
            <a:avLst/>
          </a:prstGeom>
          <a:noFill/>
        </p:spPr>
        <p:txBody>
          <a:bodyPr wrap="square">
            <a:spAutoFit/>
          </a:bodyPr>
          <a:lstStyle/>
          <a:p>
            <a:pPr marL="352425" marR="395764" indent="-342900">
              <a:lnSpc>
                <a:spcPct val="100800"/>
              </a:lnSpc>
              <a:spcBef>
                <a:spcPts val="56"/>
              </a:spcBef>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One big part of comprehension is having sufficient vocabulary, or knowing the meanings of enough words.</a:t>
            </a:r>
          </a:p>
          <a:p>
            <a:pPr marL="9525" marR="395764">
              <a:lnSpc>
                <a:spcPct val="100800"/>
              </a:lnSpc>
              <a:spcBef>
                <a:spcPts val="56"/>
              </a:spcBef>
            </a:pPr>
            <a:endParaRPr lang="en-US" sz="2500" dirty="0">
              <a:latin typeface="Times New Roman" panose="02020603050405020304" pitchFamily="18" charset="0"/>
              <a:cs typeface="Times New Roman" panose="02020603050405020304" pitchFamily="18" charset="0"/>
            </a:endParaRPr>
          </a:p>
          <a:p>
            <a:pPr marL="352425" marR="395764" indent="-342900">
              <a:lnSpc>
                <a:spcPct val="100800"/>
              </a:lnSpc>
              <a:spcBef>
                <a:spcPts val="56"/>
              </a:spcBef>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Readers who have strong comprehension are able to draw conclusions about what they read – what is important, what is a fact, what caused an event to happen, which characters are funny. </a:t>
            </a:r>
            <a:r>
              <a:rPr lang="en-US" sz="2500" b="1" dirty="0">
                <a:latin typeface="Times New Roman" panose="02020603050405020304" pitchFamily="18" charset="0"/>
                <a:cs typeface="Times New Roman" panose="02020603050405020304" pitchFamily="18" charset="0"/>
              </a:rPr>
              <a:t>Thus, comprehension involves combining reading with thinking and reasoning.</a:t>
            </a:r>
          </a:p>
          <a:p>
            <a:pPr marL="9525" marR="395764">
              <a:lnSpc>
                <a:spcPct val="100800"/>
              </a:lnSpc>
              <a:spcBef>
                <a:spcPts val="56"/>
              </a:spcBef>
            </a:pPr>
            <a:r>
              <a:rPr lang="en-US" sz="2500" b="1" dirty="0">
                <a:latin typeface="Times New Roman" panose="02020603050405020304" pitchFamily="18" charset="0"/>
                <a:cs typeface="Times New Roman" panose="02020603050405020304" pitchFamily="18" charset="0"/>
              </a:rPr>
              <a:t> </a:t>
            </a:r>
          </a:p>
          <a:p>
            <a:pPr marL="9525" marR="395764">
              <a:lnSpc>
                <a:spcPct val="100800"/>
              </a:lnSpc>
              <a:spcBef>
                <a:spcPts val="56"/>
              </a:spcBef>
            </a:pPr>
            <a:r>
              <a:rPr lang="en-US" sz="2000" dirty="0">
                <a:latin typeface="Times New Roman" panose="02020603050405020304" pitchFamily="18" charset="0"/>
                <a:cs typeface="Times New Roman" panose="02020603050405020304" pitchFamily="18" charset="0"/>
              </a:rPr>
              <a:t>                                                                                                                               (readingrockets.org) </a:t>
            </a:r>
          </a:p>
        </p:txBody>
      </p:sp>
      <p:sp>
        <p:nvSpPr>
          <p:cNvPr id="2" name="Slide Number Placeholder 1"/>
          <p:cNvSpPr>
            <a:spLocks noGrp="1"/>
          </p:cNvSpPr>
          <p:nvPr>
            <p:ph type="sldNum" sz="quarter" idx="12"/>
          </p:nvPr>
        </p:nvSpPr>
        <p:spPr/>
        <p:txBody>
          <a:bodyPr/>
          <a:lstStyle/>
          <a:p>
            <a:fld id="{F4801FD5-11B4-DE43-ACA2-E85EEB9A6F9C}" type="slidenum">
              <a:rPr lang="en-US" smtClean="0"/>
              <a:t>6</a:t>
            </a:fld>
            <a:endParaRPr lang="en-US" dirty="0"/>
          </a:p>
        </p:txBody>
      </p:sp>
    </p:spTree>
    <p:extLst>
      <p:ext uri="{BB962C8B-B14F-4D97-AF65-F5344CB8AC3E}">
        <p14:creationId xmlns:p14="http://schemas.microsoft.com/office/powerpoint/2010/main" val="29749276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AA308CE6-9A3D-4A15-B240-67ED59062F4C}"/>
              </a:ext>
            </a:extLst>
          </p:cNvPr>
          <p:cNvSpPr txBox="1"/>
          <p:nvPr/>
        </p:nvSpPr>
        <p:spPr>
          <a:xfrm>
            <a:off x="628650" y="186190"/>
            <a:ext cx="10725150" cy="471283"/>
          </a:xfrm>
          <a:prstGeom prst="rect">
            <a:avLst/>
          </a:prstGeom>
        </p:spPr>
        <p:txBody>
          <a:bodyPr vert="horz" wrap="square" lIns="0" tIns="9525" rIns="0" bIns="0" rtlCol="0">
            <a:spAutoFit/>
          </a:bodyPr>
          <a:lstStyle/>
          <a:p>
            <a:pPr marL="9525">
              <a:spcBef>
                <a:spcPts val="75"/>
              </a:spcBef>
            </a:pPr>
            <a:r>
              <a:rPr lang="en-US" sz="3000" b="1" spc="-4" dirty="0">
                <a:solidFill>
                  <a:srgbClr val="008000"/>
                </a:solidFill>
                <a:latin typeface="Gotham" panose="02000504050000020004" pitchFamily="2" charset="0"/>
                <a:cs typeface="Arial"/>
              </a:rPr>
              <a:t>COMPREHENSION                                                                   </a:t>
            </a:r>
            <a:r>
              <a:rPr lang="en-US" sz="3000" b="1" spc="-4" dirty="0" err="1">
                <a:solidFill>
                  <a:srgbClr val="008000"/>
                </a:solidFill>
                <a:latin typeface="Gotham" panose="02000504050000020004" pitchFamily="2" charset="0"/>
                <a:cs typeface="Arial"/>
              </a:rPr>
              <a:t>con’t</a:t>
            </a:r>
            <a:r>
              <a:rPr lang="en-US" sz="3000" b="1" spc="-4" dirty="0">
                <a:solidFill>
                  <a:srgbClr val="008000"/>
                </a:solidFill>
                <a:latin typeface="Gotham" panose="02000504050000020004" pitchFamily="2" charset="0"/>
                <a:cs typeface="Arial"/>
              </a:rPr>
              <a:t>  </a:t>
            </a:r>
            <a:endParaRPr lang="en-US" sz="3000" dirty="0">
              <a:solidFill>
                <a:srgbClr val="008000"/>
              </a:solidFill>
              <a:latin typeface="Gotham" panose="02000504050000020004" pitchFamily="2" charset="0"/>
              <a:cs typeface="Arial"/>
            </a:endParaRPr>
          </a:p>
        </p:txBody>
      </p:sp>
      <p:sp>
        <p:nvSpPr>
          <p:cNvPr id="6" name="TextBox 5">
            <a:extLst>
              <a:ext uri="{FF2B5EF4-FFF2-40B4-BE49-F238E27FC236}">
                <a16:creationId xmlns:a16="http://schemas.microsoft.com/office/drawing/2014/main" id="{D687606E-2D98-4A1A-8A97-39D60D5C7512}"/>
              </a:ext>
            </a:extLst>
          </p:cNvPr>
          <p:cNvSpPr txBox="1"/>
          <p:nvPr/>
        </p:nvSpPr>
        <p:spPr>
          <a:xfrm>
            <a:off x="531668" y="693095"/>
            <a:ext cx="11410950" cy="5468741"/>
          </a:xfrm>
          <a:prstGeom prst="rect">
            <a:avLst/>
          </a:prstGeom>
          <a:noFill/>
        </p:spPr>
        <p:txBody>
          <a:bodyPr wrap="square">
            <a:spAutoFit/>
          </a:bodyPr>
          <a:lstStyle/>
          <a:p>
            <a:pPr marL="352425" marR="395764" indent="-342900">
              <a:lnSpc>
                <a:spcPct val="100800"/>
              </a:lnSpc>
              <a:spcBef>
                <a:spcPts val="56"/>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Thus, comprehension involves applying various skills to make sense of what one reads and hears. </a:t>
            </a:r>
          </a:p>
          <a:p>
            <a:pPr marL="9525" marR="395764">
              <a:lnSpc>
                <a:spcPct val="100800"/>
              </a:lnSpc>
              <a:spcBef>
                <a:spcPts val="56"/>
              </a:spcBef>
            </a:pPr>
            <a:endParaRPr lang="en-US" sz="1200" dirty="0">
              <a:latin typeface="Times New Roman" panose="02020603050405020304" pitchFamily="18" charset="0"/>
              <a:cs typeface="Times New Roman" panose="02020603050405020304" pitchFamily="18" charset="0"/>
            </a:endParaRPr>
          </a:p>
          <a:p>
            <a:pPr marL="352425" marR="395764" indent="-342900">
              <a:lnSpc>
                <a:spcPct val="100800"/>
              </a:lnSpc>
              <a:spcBef>
                <a:spcPts val="56"/>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On the other hand, comprehension skills involve the ability to use context and previous knowledge to enhance reading and understanding. These skills include the following:</a:t>
            </a:r>
          </a:p>
          <a:p>
            <a:pPr marL="9525" marR="395764">
              <a:lnSpc>
                <a:spcPct val="100800"/>
              </a:lnSpc>
              <a:spcBef>
                <a:spcPts val="56"/>
              </a:spcBef>
            </a:pPr>
            <a:r>
              <a:rPr lang="en-US" sz="24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knowing the meanings of words (vocabulary)</a:t>
            </a:r>
          </a:p>
          <a:p>
            <a:pPr marL="9525" marR="395764">
              <a:lnSpc>
                <a:spcPct val="100800"/>
              </a:lnSpc>
              <a:spcBef>
                <a:spcPts val="56"/>
              </a:spcBef>
            </a:pPr>
            <a:r>
              <a:rPr lang="en-US" sz="2000" dirty="0">
                <a:latin typeface="Times New Roman" panose="02020603050405020304" pitchFamily="18" charset="0"/>
                <a:cs typeface="Times New Roman" panose="02020603050405020304" pitchFamily="18" charset="0"/>
              </a:rPr>
              <a:t>	- detecting key words, such as those identifying topics and ideas</a:t>
            </a:r>
          </a:p>
          <a:p>
            <a:pPr marL="9525" marR="395764">
              <a:lnSpc>
                <a:spcPct val="100800"/>
              </a:lnSpc>
              <a:spcBef>
                <a:spcPts val="56"/>
              </a:spcBef>
            </a:pPr>
            <a:r>
              <a:rPr lang="en-US" sz="2000" dirty="0">
                <a:latin typeface="Times New Roman" panose="02020603050405020304" pitchFamily="18" charset="0"/>
                <a:cs typeface="Times New Roman" panose="02020603050405020304" pitchFamily="18" charset="0"/>
              </a:rPr>
              <a:t>	- guessing meaning from context </a:t>
            </a:r>
          </a:p>
          <a:p>
            <a:pPr marL="9525" marR="395764">
              <a:lnSpc>
                <a:spcPct val="100800"/>
              </a:lnSpc>
              <a:spcBef>
                <a:spcPts val="56"/>
              </a:spcBef>
            </a:pPr>
            <a:r>
              <a:rPr lang="en-US" sz="2000" dirty="0">
                <a:latin typeface="Times New Roman" panose="02020603050405020304" pitchFamily="18" charset="0"/>
                <a:cs typeface="Times New Roman" panose="02020603050405020304" pitchFamily="18" charset="0"/>
              </a:rPr>
              <a:t>	- recognizing grammatical word classes </a:t>
            </a:r>
          </a:p>
          <a:p>
            <a:pPr marL="9525" marR="395764">
              <a:lnSpc>
                <a:spcPct val="100800"/>
              </a:lnSpc>
              <a:spcBef>
                <a:spcPts val="56"/>
              </a:spcBef>
            </a:pPr>
            <a:r>
              <a:rPr lang="en-US" sz="2000" dirty="0">
                <a:latin typeface="Times New Roman" panose="02020603050405020304" pitchFamily="18" charset="0"/>
                <a:cs typeface="Times New Roman" panose="02020603050405020304" pitchFamily="18" charset="0"/>
              </a:rPr>
              <a:t>	- knowing how words combine to form bigger units of meaning (syntax) </a:t>
            </a:r>
          </a:p>
          <a:p>
            <a:pPr marL="9525" marR="395764">
              <a:lnSpc>
                <a:spcPct val="100800"/>
              </a:lnSpc>
              <a:spcBef>
                <a:spcPts val="56"/>
              </a:spcBef>
            </a:pPr>
            <a:r>
              <a:rPr lang="en-US" sz="2000" dirty="0">
                <a:latin typeface="Times New Roman" panose="02020603050405020304" pitchFamily="18" charset="0"/>
                <a:cs typeface="Times New Roman" panose="02020603050405020304" pitchFamily="18" charset="0"/>
              </a:rPr>
              <a:t>	- detecting sentence constituents, such as subject, verb, object, etc. </a:t>
            </a:r>
          </a:p>
          <a:p>
            <a:pPr marL="9525" marR="395764">
              <a:lnSpc>
                <a:spcPct val="100800"/>
              </a:lnSpc>
              <a:spcBef>
                <a:spcPts val="56"/>
              </a:spcBef>
            </a:pPr>
            <a:r>
              <a:rPr lang="en-US" sz="2000" dirty="0">
                <a:latin typeface="Times New Roman" panose="02020603050405020304" pitchFamily="18" charset="0"/>
                <a:cs typeface="Times New Roman" panose="02020603050405020304" pitchFamily="18" charset="0"/>
              </a:rPr>
              <a:t>	- recognizing typical word-order patterns </a:t>
            </a:r>
          </a:p>
          <a:p>
            <a:pPr marL="9525" marR="395764">
              <a:lnSpc>
                <a:spcPct val="100800"/>
              </a:lnSpc>
              <a:spcBef>
                <a:spcPts val="56"/>
              </a:spcBef>
            </a:pPr>
            <a:r>
              <a:rPr lang="en-US" sz="2000" dirty="0">
                <a:latin typeface="Times New Roman" panose="02020603050405020304" pitchFamily="18" charset="0"/>
                <a:cs typeface="Times New Roman" panose="02020603050405020304" pitchFamily="18" charset="0"/>
              </a:rPr>
              <a:t>	- recognizing cohesive devices </a:t>
            </a:r>
          </a:p>
          <a:p>
            <a:pPr marL="9525" marR="395764">
              <a:lnSpc>
                <a:spcPct val="100800"/>
              </a:lnSpc>
              <a:spcBef>
                <a:spcPts val="56"/>
              </a:spcBef>
            </a:pPr>
            <a:r>
              <a:rPr lang="en-US" sz="2000" dirty="0">
                <a:latin typeface="Times New Roman" panose="02020603050405020304" pitchFamily="18" charset="0"/>
                <a:cs typeface="Times New Roman" panose="02020603050405020304" pitchFamily="18" charset="0"/>
              </a:rPr>
              <a:t>	- using prediction as an aid to reading </a:t>
            </a:r>
          </a:p>
          <a:p>
            <a:pPr marL="9525" marR="395764">
              <a:lnSpc>
                <a:spcPct val="100800"/>
              </a:lnSpc>
              <a:spcBef>
                <a:spcPts val="56"/>
              </a:spcBef>
            </a:pPr>
            <a:r>
              <a:rPr lang="en-US" sz="20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Afful</a:t>
            </a:r>
            <a:r>
              <a:rPr lang="en-US" sz="1600" dirty="0">
                <a:latin typeface="Times New Roman" panose="02020603050405020304" pitchFamily="18" charset="0"/>
                <a:cs typeface="Times New Roman" panose="02020603050405020304" pitchFamily="18" charset="0"/>
              </a:rPr>
              <a:t>, Appiah &amp; Mensah 2013)</a:t>
            </a:r>
          </a:p>
        </p:txBody>
      </p:sp>
      <p:sp>
        <p:nvSpPr>
          <p:cNvPr id="2" name="Slide Number Placeholder 1"/>
          <p:cNvSpPr>
            <a:spLocks noGrp="1"/>
          </p:cNvSpPr>
          <p:nvPr>
            <p:ph type="sldNum" sz="quarter" idx="12"/>
          </p:nvPr>
        </p:nvSpPr>
        <p:spPr/>
        <p:txBody>
          <a:bodyPr/>
          <a:lstStyle/>
          <a:p>
            <a:fld id="{F4801FD5-11B4-DE43-ACA2-E85EEB9A6F9C}" type="slidenum">
              <a:rPr lang="en-US" smtClean="0"/>
              <a:t>7</a:t>
            </a:fld>
            <a:endParaRPr lang="en-US" dirty="0"/>
          </a:p>
        </p:txBody>
      </p:sp>
    </p:spTree>
    <p:extLst>
      <p:ext uri="{BB962C8B-B14F-4D97-AF65-F5344CB8AC3E}">
        <p14:creationId xmlns:p14="http://schemas.microsoft.com/office/powerpoint/2010/main" val="97765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AA308CE6-9A3D-4A15-B240-67ED59062F4C}"/>
              </a:ext>
            </a:extLst>
          </p:cNvPr>
          <p:cNvSpPr txBox="1"/>
          <p:nvPr/>
        </p:nvSpPr>
        <p:spPr>
          <a:xfrm>
            <a:off x="476250" y="186190"/>
            <a:ext cx="10725150" cy="471283"/>
          </a:xfrm>
          <a:prstGeom prst="rect">
            <a:avLst/>
          </a:prstGeom>
        </p:spPr>
        <p:txBody>
          <a:bodyPr vert="horz" wrap="square" lIns="0" tIns="9525" rIns="0" bIns="0" rtlCol="0">
            <a:spAutoFit/>
          </a:bodyPr>
          <a:lstStyle/>
          <a:p>
            <a:pPr marL="9525">
              <a:spcBef>
                <a:spcPts val="75"/>
              </a:spcBef>
            </a:pPr>
            <a:r>
              <a:rPr lang="en-US" sz="3000" b="1" spc="-4" dirty="0">
                <a:solidFill>
                  <a:srgbClr val="008000"/>
                </a:solidFill>
                <a:latin typeface="Gotham" panose="02000504050000020004" pitchFamily="2" charset="0"/>
                <a:cs typeface="Arial"/>
              </a:rPr>
              <a:t>TECHNIQUES IN READING A COMPREHENSION TEXT </a:t>
            </a:r>
            <a:endParaRPr lang="en-US" sz="3000" dirty="0">
              <a:solidFill>
                <a:srgbClr val="008000"/>
              </a:solidFill>
              <a:latin typeface="Gotham" panose="02000504050000020004" pitchFamily="2" charset="0"/>
              <a:cs typeface="Arial"/>
            </a:endParaRPr>
          </a:p>
        </p:txBody>
      </p:sp>
      <p:sp>
        <p:nvSpPr>
          <p:cNvPr id="6" name="TextBox 5">
            <a:extLst>
              <a:ext uri="{FF2B5EF4-FFF2-40B4-BE49-F238E27FC236}">
                <a16:creationId xmlns:a16="http://schemas.microsoft.com/office/drawing/2014/main" id="{D687606E-2D98-4A1A-8A97-39D60D5C7512}"/>
              </a:ext>
            </a:extLst>
          </p:cNvPr>
          <p:cNvSpPr txBox="1"/>
          <p:nvPr/>
        </p:nvSpPr>
        <p:spPr>
          <a:xfrm>
            <a:off x="476250" y="941086"/>
            <a:ext cx="11355532" cy="4870757"/>
          </a:xfrm>
          <a:prstGeom prst="rect">
            <a:avLst/>
          </a:prstGeom>
          <a:noFill/>
        </p:spPr>
        <p:txBody>
          <a:bodyPr wrap="square">
            <a:spAutoFit/>
          </a:bodyPr>
          <a:lstStyle/>
          <a:p>
            <a:pPr marL="352425" marR="395764" indent="-342900" algn="just">
              <a:lnSpc>
                <a:spcPct val="100800"/>
              </a:lnSpc>
              <a:spcBef>
                <a:spcPts val="56"/>
              </a:spcBef>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Skimming: </a:t>
            </a:r>
            <a:r>
              <a:rPr lang="en-US" sz="2200" dirty="0">
                <a:latin typeface="Times New Roman" panose="02020603050405020304" pitchFamily="18" charset="0"/>
                <a:cs typeface="Times New Roman" panose="02020603050405020304" pitchFamily="18" charset="0"/>
              </a:rPr>
              <a:t>This is a reading technique that aims at understanding or obtaining facts. It does 				not seek to identify words, figures, or phrases, but rather to identify the gist of a 				story or text. </a:t>
            </a:r>
          </a:p>
          <a:p>
            <a:pPr marL="9525" marR="395764" algn="just">
              <a:lnSpc>
                <a:spcPct val="100800"/>
              </a:lnSpc>
              <a:spcBef>
                <a:spcPts val="56"/>
              </a:spcBef>
            </a:pPr>
            <a:endParaRPr lang="en-US" sz="2200" b="1" dirty="0">
              <a:latin typeface="Times New Roman" panose="02020603050405020304" pitchFamily="18" charset="0"/>
              <a:cs typeface="Times New Roman" panose="02020603050405020304" pitchFamily="18" charset="0"/>
            </a:endParaRPr>
          </a:p>
          <a:p>
            <a:pPr marL="352425" marR="395764" indent="-342900" algn="just">
              <a:lnSpc>
                <a:spcPct val="100800"/>
              </a:lnSpc>
              <a:spcBef>
                <a:spcPts val="56"/>
              </a:spcBef>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 Scanning: </a:t>
            </a:r>
            <a:r>
              <a:rPr lang="en-US" sz="2200" dirty="0">
                <a:latin typeface="Times New Roman" panose="02020603050405020304" pitchFamily="18" charset="0"/>
                <a:cs typeface="Times New Roman" panose="02020603050405020304" pitchFamily="18" charset="0"/>
              </a:rPr>
              <a:t>It involves reading rapidly for a specific fact in the material. This is a reading 				     exercise to identify or locate some word, expression or figure on a written or 				     typed text. </a:t>
            </a:r>
          </a:p>
          <a:p>
            <a:pPr marL="352425" marR="395764" indent="-342900" algn="just">
              <a:lnSpc>
                <a:spcPct val="100800"/>
              </a:lnSpc>
              <a:spcBef>
                <a:spcPts val="56"/>
              </a:spcBef>
              <a:buFont typeface="Arial" panose="020B0604020202020204" pitchFamily="34" charset="0"/>
              <a:buChar char="•"/>
            </a:pPr>
            <a:endParaRPr lang="en-US" sz="1200" b="1" dirty="0">
              <a:latin typeface="Times New Roman" panose="02020603050405020304" pitchFamily="18" charset="0"/>
              <a:cs typeface="Times New Roman" panose="02020603050405020304" pitchFamily="18" charset="0"/>
            </a:endParaRPr>
          </a:p>
          <a:p>
            <a:pPr marL="352425" marR="395764" indent="-342900" algn="just">
              <a:lnSpc>
                <a:spcPct val="100800"/>
              </a:lnSpc>
              <a:spcBef>
                <a:spcPts val="56"/>
              </a:spcBef>
              <a:buFont typeface="Arial" panose="020B0604020202020204" pitchFamily="34" charset="0"/>
              <a:buChar char="•"/>
            </a:pPr>
            <a:endParaRPr lang="en-US" sz="1200" b="1" dirty="0">
              <a:latin typeface="Times New Roman" panose="02020603050405020304" pitchFamily="18" charset="0"/>
              <a:cs typeface="Times New Roman" panose="02020603050405020304" pitchFamily="18" charset="0"/>
            </a:endParaRPr>
          </a:p>
          <a:p>
            <a:pPr marL="352425" marR="395764" indent="-342900" algn="just">
              <a:lnSpc>
                <a:spcPct val="100800"/>
              </a:lnSpc>
              <a:spcBef>
                <a:spcPts val="56"/>
              </a:spcBef>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Close reading: </a:t>
            </a:r>
            <a:r>
              <a:rPr lang="en-US" sz="2200" dirty="0">
                <a:latin typeface="Times New Roman" panose="02020603050405020304" pitchFamily="18" charset="0"/>
                <a:cs typeface="Times New Roman" panose="02020603050405020304" pitchFamily="18" charset="0"/>
              </a:rPr>
              <a:t>This reading technique aims at yielding the full meaning of a text. </a:t>
            </a:r>
            <a:endParaRPr lang="en-US" sz="2200" b="1" dirty="0">
              <a:latin typeface="Times New Roman" panose="02020603050405020304" pitchFamily="18" charset="0"/>
              <a:cs typeface="Times New Roman" panose="02020603050405020304" pitchFamily="18" charset="0"/>
            </a:endParaRPr>
          </a:p>
          <a:p>
            <a:pPr marL="352425" marR="395764" indent="-342900" algn="just">
              <a:lnSpc>
                <a:spcPct val="100800"/>
              </a:lnSpc>
              <a:spcBef>
                <a:spcPts val="56"/>
              </a:spcBef>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a:p>
            <a:pPr marL="9525" marR="395764" algn="just">
              <a:lnSpc>
                <a:spcPct val="100800"/>
              </a:lnSpc>
              <a:spcBef>
                <a:spcPts val="56"/>
              </a:spcBef>
            </a:pPr>
            <a:r>
              <a:rPr lang="en-US" sz="2200" b="1" dirty="0">
                <a:latin typeface="Times New Roman" panose="02020603050405020304" pitchFamily="18" charset="0"/>
                <a:cs typeface="Times New Roman" panose="02020603050405020304" pitchFamily="18" charset="0"/>
              </a:rPr>
              <a:t>NB: Extensive Reading </a:t>
            </a:r>
            <a:r>
              <a:rPr lang="en-US" sz="2200" dirty="0">
                <a:latin typeface="Times New Roman" panose="02020603050405020304" pitchFamily="18" charset="0"/>
                <a:cs typeface="Times New Roman" panose="02020603050405020304" pitchFamily="18" charset="0"/>
              </a:rPr>
              <a:t>(i.e., reading to get oneself informed) Vs. </a:t>
            </a:r>
          </a:p>
          <a:p>
            <a:pPr marL="9525" marR="395764" algn="just">
              <a:lnSpc>
                <a:spcPct val="100800"/>
              </a:lnSpc>
              <a:spcBef>
                <a:spcPts val="56"/>
              </a:spcBef>
            </a:pPr>
            <a:endParaRPr lang="en-US" sz="1200" b="1" dirty="0">
              <a:latin typeface="Times New Roman" panose="02020603050405020304" pitchFamily="18" charset="0"/>
              <a:cs typeface="Times New Roman" panose="02020603050405020304" pitchFamily="18" charset="0"/>
            </a:endParaRPr>
          </a:p>
          <a:p>
            <a:pPr marL="9525" marR="395764" algn="just">
              <a:lnSpc>
                <a:spcPct val="100800"/>
              </a:lnSpc>
              <a:spcBef>
                <a:spcPts val="56"/>
              </a:spcBef>
            </a:pPr>
            <a:r>
              <a:rPr lang="en-US" sz="2200" b="1" dirty="0">
                <a:latin typeface="Times New Roman" panose="02020603050405020304" pitchFamily="18" charset="0"/>
                <a:cs typeface="Times New Roman" panose="02020603050405020304" pitchFamily="18" charset="0"/>
              </a:rPr>
              <a:t>	  Intensive reading </a:t>
            </a:r>
            <a:r>
              <a:rPr lang="en-US" sz="2200" dirty="0">
                <a:latin typeface="Times New Roman" panose="02020603050405020304" pitchFamily="18" charset="0"/>
                <a:cs typeface="Times New Roman" panose="02020603050405020304" pitchFamily="18" charset="0"/>
              </a:rPr>
              <a:t>(i.e., reading to gain deep knowledge; usually for professional 	  	  	  or academic purposes.)</a:t>
            </a:r>
            <a:endParaRPr lang="en-US" sz="22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F4801FD5-11B4-DE43-ACA2-E85EEB9A6F9C}" type="slidenum">
              <a:rPr lang="en-US" smtClean="0"/>
              <a:t>8</a:t>
            </a:fld>
            <a:endParaRPr lang="en-US" dirty="0"/>
          </a:p>
        </p:txBody>
      </p:sp>
    </p:spTree>
    <p:extLst>
      <p:ext uri="{BB962C8B-B14F-4D97-AF65-F5344CB8AC3E}">
        <p14:creationId xmlns:p14="http://schemas.microsoft.com/office/powerpoint/2010/main" val="64311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AA308CE6-9A3D-4A15-B240-67ED59062F4C}"/>
              </a:ext>
            </a:extLst>
          </p:cNvPr>
          <p:cNvSpPr txBox="1"/>
          <p:nvPr/>
        </p:nvSpPr>
        <p:spPr>
          <a:xfrm>
            <a:off x="628650" y="186190"/>
            <a:ext cx="10725150" cy="471283"/>
          </a:xfrm>
          <a:prstGeom prst="rect">
            <a:avLst/>
          </a:prstGeom>
        </p:spPr>
        <p:txBody>
          <a:bodyPr vert="horz" wrap="square" lIns="0" tIns="9525" rIns="0" bIns="0" rtlCol="0">
            <a:spAutoFit/>
          </a:bodyPr>
          <a:lstStyle/>
          <a:p>
            <a:pPr marL="9525">
              <a:spcBef>
                <a:spcPts val="75"/>
              </a:spcBef>
            </a:pPr>
            <a:r>
              <a:rPr lang="en-US" sz="3000" b="1" spc="-4" dirty="0">
                <a:solidFill>
                  <a:srgbClr val="008000"/>
                </a:solidFill>
                <a:latin typeface="Gotham" panose="02000504050000020004" pitchFamily="2" charset="0"/>
                <a:cs typeface="Arial"/>
              </a:rPr>
              <a:t>IMPORTANCE OF GOOD COMPREHENSION SKILLS </a:t>
            </a:r>
            <a:endParaRPr lang="en-US" sz="3000" dirty="0">
              <a:solidFill>
                <a:srgbClr val="008000"/>
              </a:solidFill>
              <a:latin typeface="Gotham" panose="02000504050000020004" pitchFamily="2" charset="0"/>
              <a:cs typeface="Arial"/>
            </a:endParaRPr>
          </a:p>
        </p:txBody>
      </p:sp>
      <p:sp>
        <p:nvSpPr>
          <p:cNvPr id="6" name="TextBox 5">
            <a:extLst>
              <a:ext uri="{FF2B5EF4-FFF2-40B4-BE49-F238E27FC236}">
                <a16:creationId xmlns:a16="http://schemas.microsoft.com/office/drawing/2014/main" id="{D687606E-2D98-4A1A-8A97-39D60D5C7512}"/>
              </a:ext>
            </a:extLst>
          </p:cNvPr>
          <p:cNvSpPr txBox="1"/>
          <p:nvPr/>
        </p:nvSpPr>
        <p:spPr>
          <a:xfrm>
            <a:off x="531668" y="990133"/>
            <a:ext cx="11410950" cy="4784900"/>
          </a:xfrm>
          <a:prstGeom prst="rect">
            <a:avLst/>
          </a:prstGeom>
          <a:noFill/>
        </p:spPr>
        <p:txBody>
          <a:bodyPr wrap="square">
            <a:spAutoFit/>
          </a:bodyPr>
          <a:lstStyle/>
          <a:p>
            <a:pPr marL="9525" marR="395764">
              <a:lnSpc>
                <a:spcPct val="100800"/>
              </a:lnSpc>
              <a:spcBef>
                <a:spcPts val="56"/>
              </a:spcBef>
            </a:pPr>
            <a:r>
              <a:rPr lang="en-US" sz="2400" dirty="0">
                <a:latin typeface="Times New Roman" panose="02020603050405020304" pitchFamily="18" charset="0"/>
                <a:cs typeface="Times New Roman" panose="02020603050405020304" pitchFamily="18" charset="0"/>
              </a:rPr>
              <a:t>It is important to acquire good comprehension skills because of the following:</a:t>
            </a:r>
          </a:p>
          <a:p>
            <a:pPr marL="9525" marR="395764">
              <a:lnSpc>
                <a:spcPct val="100800"/>
              </a:lnSpc>
              <a:spcBef>
                <a:spcPts val="56"/>
              </a:spcBef>
            </a:pPr>
            <a:r>
              <a:rPr lang="en-US" sz="2400" dirty="0">
                <a:latin typeface="Times New Roman" panose="02020603050405020304" pitchFamily="18" charset="0"/>
                <a:cs typeface="Times New Roman" panose="02020603050405020304" pitchFamily="18" charset="0"/>
              </a:rPr>
              <a:t> </a:t>
            </a:r>
          </a:p>
          <a:p>
            <a:pPr marL="9525" marR="395764">
              <a:lnSpc>
                <a:spcPct val="100800"/>
              </a:lnSpc>
              <a:spcBef>
                <a:spcPts val="56"/>
              </a:spcBef>
            </a:pPr>
            <a:r>
              <a:rPr lang="en-US" sz="2400" dirty="0">
                <a:latin typeface="Times New Roman" panose="02020603050405020304" pitchFamily="18" charset="0"/>
                <a:cs typeface="Times New Roman" panose="02020603050405020304" pitchFamily="18" charset="0"/>
              </a:rPr>
              <a:t> - it helps us to increase our knowledge </a:t>
            </a:r>
          </a:p>
          <a:p>
            <a:pPr marL="9525" marR="395764">
              <a:lnSpc>
                <a:spcPct val="100800"/>
              </a:lnSpc>
              <a:spcBef>
                <a:spcPts val="56"/>
              </a:spcBef>
            </a:pPr>
            <a:r>
              <a:rPr lang="en-US" sz="2400" dirty="0">
                <a:latin typeface="Times New Roman" panose="02020603050405020304" pitchFamily="18" charset="0"/>
                <a:cs typeface="Times New Roman" panose="02020603050405020304" pitchFamily="18" charset="0"/>
              </a:rPr>
              <a:t> - it helps us to enrich our vocabulary </a:t>
            </a:r>
          </a:p>
          <a:p>
            <a:pPr marL="9525" marR="395764">
              <a:lnSpc>
                <a:spcPct val="100800"/>
              </a:lnSpc>
              <a:spcBef>
                <a:spcPts val="56"/>
              </a:spcBef>
            </a:pPr>
            <a:r>
              <a:rPr lang="en-US" sz="2400" dirty="0">
                <a:latin typeface="Times New Roman" panose="02020603050405020304" pitchFamily="18" charset="0"/>
                <a:cs typeface="Times New Roman" panose="02020603050405020304" pitchFamily="18" charset="0"/>
              </a:rPr>
              <a:t> - it enhances our ability to communicate with others </a:t>
            </a:r>
          </a:p>
          <a:p>
            <a:pPr marL="9525" marR="395764">
              <a:lnSpc>
                <a:spcPct val="100800"/>
              </a:lnSpc>
              <a:spcBef>
                <a:spcPts val="56"/>
              </a:spcBef>
            </a:pPr>
            <a:r>
              <a:rPr lang="en-US" sz="2400" dirty="0">
                <a:latin typeface="Times New Roman" panose="02020603050405020304" pitchFamily="18" charset="0"/>
                <a:cs typeface="Times New Roman" panose="02020603050405020304" pitchFamily="18" charset="0"/>
              </a:rPr>
              <a:t> - it helps us to exhibit the appropriate emotional responses to what we read or listen to </a:t>
            </a:r>
          </a:p>
          <a:p>
            <a:pPr marL="9525" marR="395764">
              <a:lnSpc>
                <a:spcPct val="100800"/>
              </a:lnSpc>
              <a:spcBef>
                <a:spcPts val="56"/>
              </a:spcBef>
            </a:pPr>
            <a:r>
              <a:rPr lang="en-US" sz="2400" dirty="0">
                <a:latin typeface="Times New Roman" panose="02020603050405020304" pitchFamily="18" charset="0"/>
                <a:cs typeface="Times New Roman" panose="02020603050405020304" pitchFamily="18" charset="0"/>
              </a:rPr>
              <a:t> - it helps us to develop critical thinking skills </a:t>
            </a:r>
          </a:p>
          <a:p>
            <a:pPr marL="9525" marR="395764">
              <a:lnSpc>
                <a:spcPct val="100800"/>
              </a:lnSpc>
              <a:spcBef>
                <a:spcPts val="56"/>
              </a:spcBef>
            </a:pPr>
            <a:r>
              <a:rPr lang="en-US" sz="2400" dirty="0">
                <a:latin typeface="Times New Roman" panose="02020603050405020304" pitchFamily="18" charset="0"/>
                <a:cs typeface="Times New Roman" panose="02020603050405020304" pitchFamily="18" charset="0"/>
              </a:rPr>
              <a:t> - it makes us observant readers and keen listeners </a:t>
            </a:r>
          </a:p>
          <a:p>
            <a:pPr marL="352425" marR="395764" indent="-342900">
              <a:lnSpc>
                <a:spcPct val="100800"/>
              </a:lnSpc>
              <a:spcBef>
                <a:spcPts val="56"/>
              </a:spcBef>
              <a:buFontTx/>
              <a:buChar char="-"/>
            </a:pPr>
            <a:endParaRPr lang="en-US" sz="2000" dirty="0">
              <a:latin typeface="Times New Roman" panose="02020603050405020304" pitchFamily="18" charset="0"/>
              <a:cs typeface="Times New Roman" panose="02020603050405020304" pitchFamily="18" charset="0"/>
            </a:endParaRPr>
          </a:p>
          <a:p>
            <a:pPr marL="9525" marR="395764">
              <a:lnSpc>
                <a:spcPct val="100800"/>
              </a:lnSpc>
              <a:spcBef>
                <a:spcPts val="56"/>
              </a:spcBef>
            </a:pPr>
            <a:r>
              <a:rPr lang="en-US" sz="2000" dirty="0">
                <a:latin typeface="Times New Roman" panose="02020603050405020304" pitchFamily="18" charset="0"/>
                <a:cs typeface="Times New Roman" panose="02020603050405020304" pitchFamily="18" charset="0"/>
              </a:rPr>
              <a:t>           												                               </a:t>
            </a:r>
          </a:p>
          <a:p>
            <a:pPr marL="9525" marR="395764">
              <a:lnSpc>
                <a:spcPct val="100800"/>
              </a:lnSpc>
              <a:spcBef>
                <a:spcPts val="56"/>
              </a:spcBef>
            </a:pPr>
            <a:endParaRPr lang="en-US" sz="2000" dirty="0">
              <a:latin typeface="Times New Roman" panose="02020603050405020304" pitchFamily="18" charset="0"/>
              <a:cs typeface="Times New Roman" panose="02020603050405020304" pitchFamily="18" charset="0"/>
            </a:endParaRPr>
          </a:p>
          <a:p>
            <a:pPr marL="9525" marR="395764">
              <a:lnSpc>
                <a:spcPct val="100800"/>
              </a:lnSpc>
              <a:spcBef>
                <a:spcPts val="56"/>
              </a:spcBef>
            </a:pPr>
            <a:endParaRPr lang="en-US" sz="2000" dirty="0">
              <a:latin typeface="Times New Roman" panose="02020603050405020304" pitchFamily="18" charset="0"/>
              <a:cs typeface="Times New Roman" panose="02020603050405020304" pitchFamily="18" charset="0"/>
            </a:endParaRPr>
          </a:p>
          <a:p>
            <a:pPr marL="9525" marR="395764">
              <a:lnSpc>
                <a:spcPct val="100800"/>
              </a:lnSpc>
              <a:spcBef>
                <a:spcPts val="56"/>
              </a:spcBef>
            </a:pPr>
            <a:r>
              <a:rPr lang="en-US" sz="20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Afful</a:t>
            </a:r>
            <a:r>
              <a:rPr lang="en-US" sz="1600" dirty="0">
                <a:latin typeface="Times New Roman" panose="02020603050405020304" pitchFamily="18" charset="0"/>
                <a:cs typeface="Times New Roman" panose="02020603050405020304" pitchFamily="18" charset="0"/>
              </a:rPr>
              <a:t>, Appiah &amp; Mensah 2013)</a:t>
            </a:r>
          </a:p>
        </p:txBody>
      </p:sp>
      <p:sp>
        <p:nvSpPr>
          <p:cNvPr id="2" name="Slide Number Placeholder 1"/>
          <p:cNvSpPr>
            <a:spLocks noGrp="1"/>
          </p:cNvSpPr>
          <p:nvPr>
            <p:ph type="sldNum" sz="quarter" idx="12"/>
          </p:nvPr>
        </p:nvSpPr>
        <p:spPr/>
        <p:txBody>
          <a:bodyPr/>
          <a:lstStyle/>
          <a:p>
            <a:fld id="{F4801FD5-11B4-DE43-ACA2-E85EEB9A6F9C}" type="slidenum">
              <a:rPr lang="en-US" smtClean="0"/>
              <a:t>9</a:t>
            </a:fld>
            <a:endParaRPr lang="en-US" dirty="0"/>
          </a:p>
        </p:txBody>
      </p:sp>
    </p:spTree>
    <p:extLst>
      <p:ext uri="{BB962C8B-B14F-4D97-AF65-F5344CB8AC3E}">
        <p14:creationId xmlns:p14="http://schemas.microsoft.com/office/powerpoint/2010/main" val="11943011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AA308CE6-9A3D-4A15-B240-67ED59062F4C}"/>
              </a:ext>
            </a:extLst>
          </p:cNvPr>
          <p:cNvSpPr txBox="1"/>
          <p:nvPr/>
        </p:nvSpPr>
        <p:spPr>
          <a:xfrm>
            <a:off x="628650" y="421832"/>
            <a:ext cx="10725150" cy="471283"/>
          </a:xfrm>
          <a:prstGeom prst="rect">
            <a:avLst/>
          </a:prstGeom>
        </p:spPr>
        <p:txBody>
          <a:bodyPr vert="horz" wrap="square" lIns="0" tIns="9525" rIns="0" bIns="0" rtlCol="0">
            <a:spAutoFit/>
          </a:bodyPr>
          <a:lstStyle/>
          <a:p>
            <a:pPr marL="9525">
              <a:spcBef>
                <a:spcPts val="75"/>
              </a:spcBef>
            </a:pPr>
            <a:r>
              <a:rPr lang="en-US" sz="3000" b="1" spc="-4" dirty="0">
                <a:solidFill>
                  <a:srgbClr val="008000"/>
                </a:solidFill>
                <a:latin typeface="Gotham" panose="02000504050000020004" pitchFamily="2" charset="0"/>
                <a:cs typeface="Arial"/>
              </a:rPr>
              <a:t>STRATEGIES IN UNDERSTANING COMPREHENSION </a:t>
            </a:r>
            <a:endParaRPr lang="en-US" sz="3000" dirty="0">
              <a:solidFill>
                <a:srgbClr val="008000"/>
              </a:solidFill>
              <a:latin typeface="Gotham" panose="02000504050000020004" pitchFamily="2" charset="0"/>
              <a:cs typeface="Arial"/>
            </a:endParaRPr>
          </a:p>
        </p:txBody>
      </p:sp>
      <p:sp>
        <p:nvSpPr>
          <p:cNvPr id="6" name="TextBox 5">
            <a:extLst>
              <a:ext uri="{FF2B5EF4-FFF2-40B4-BE49-F238E27FC236}">
                <a16:creationId xmlns:a16="http://schemas.microsoft.com/office/drawing/2014/main" id="{D687606E-2D98-4A1A-8A97-39D60D5C7512}"/>
              </a:ext>
            </a:extLst>
          </p:cNvPr>
          <p:cNvSpPr txBox="1"/>
          <p:nvPr/>
        </p:nvSpPr>
        <p:spPr>
          <a:xfrm>
            <a:off x="628650" y="1047004"/>
            <a:ext cx="11050732" cy="4946547"/>
          </a:xfrm>
          <a:prstGeom prst="rect">
            <a:avLst/>
          </a:prstGeom>
          <a:noFill/>
        </p:spPr>
        <p:txBody>
          <a:bodyPr wrap="square">
            <a:spAutoFit/>
          </a:bodyPr>
          <a:lstStyle/>
          <a:p>
            <a:pPr marL="466725" marR="395764" indent="-457200" algn="just">
              <a:lnSpc>
                <a:spcPct val="100800"/>
              </a:lnSpc>
              <a:spcBef>
                <a:spcPts val="56"/>
              </a:spcBef>
              <a:buAutoNum type="arabicPeriod"/>
            </a:pPr>
            <a:r>
              <a:rPr lang="en-US" sz="2400" b="1" dirty="0">
                <a:latin typeface="Times New Roman" panose="02020603050405020304" pitchFamily="18" charset="0"/>
                <a:cs typeface="Times New Roman" panose="02020603050405020304" pitchFamily="18" charset="0"/>
              </a:rPr>
              <a:t>The use of transitions</a:t>
            </a:r>
            <a:r>
              <a:rPr lang="en-US" sz="2400" dirty="0">
                <a:latin typeface="Times New Roman" panose="02020603050405020304" pitchFamily="18" charset="0"/>
                <a:cs typeface="Times New Roman" panose="02020603050405020304" pitchFamily="18" charset="0"/>
              </a:rPr>
              <a:t>: Knowing the functions of transitions will guide the reader to be able to locate important points in passages. As the reader begins to take notice of transitions and their functions, this will serve as discourse signals that will direct them to vital information in the text. Transitions carry the reader across from one thought or idea to the other. (e.g. transitions that show addition – also, in addition, furthermore; transition that show contract – but, however, yet; etc.) </a:t>
            </a:r>
          </a:p>
          <a:p>
            <a:pPr marL="9525" marR="395764" algn="just">
              <a:lnSpc>
                <a:spcPct val="100800"/>
              </a:lnSpc>
              <a:spcBef>
                <a:spcPts val="56"/>
              </a:spcBef>
            </a:pPr>
            <a:endParaRPr lang="en-US" sz="2400" dirty="0">
              <a:latin typeface="Times New Roman" panose="02020603050405020304" pitchFamily="18" charset="0"/>
              <a:cs typeface="Times New Roman" panose="02020603050405020304" pitchFamily="18" charset="0"/>
            </a:endParaRPr>
          </a:p>
          <a:p>
            <a:pPr marL="9525" marR="395764" algn="just">
              <a:lnSpc>
                <a:spcPct val="100800"/>
              </a:lnSpc>
              <a:spcBef>
                <a:spcPts val="56"/>
              </a:spcBef>
            </a:pPr>
            <a:r>
              <a:rPr lang="en-US" sz="2400" b="1" dirty="0">
                <a:latin typeface="Times New Roman" panose="02020603050405020304" pitchFamily="18" charset="0"/>
                <a:cs typeface="Times New Roman" panose="02020603050405020304" pitchFamily="18" charset="0"/>
              </a:rPr>
              <a:t>2. 	Identifying main ideas</a:t>
            </a:r>
            <a:r>
              <a:rPr lang="en-US" sz="2400" dirty="0">
                <a:latin typeface="Times New Roman" panose="02020603050405020304" pitchFamily="18" charset="0"/>
                <a:cs typeface="Times New Roman" panose="02020603050405020304" pitchFamily="18" charset="0"/>
              </a:rPr>
              <a:t>: Reading and identifying what the main point of the 	author 	is would help the reader to improve upon their comprehension of text and 	to 	answer comprehension questions accurately and appropriately. In text 	construction, a paragraph is considered as a unit of information unified by a 	controlling idea (main idea).</a:t>
            </a:r>
            <a:endParaRPr lang="en-US" sz="24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F4801FD5-11B4-DE43-ACA2-E85EEB9A6F9C}" type="slidenum">
              <a:rPr lang="en-US" b="1" smtClean="0"/>
              <a:t>10</a:t>
            </a:fld>
            <a:endParaRPr lang="en-US" b="1" dirty="0"/>
          </a:p>
        </p:txBody>
      </p:sp>
    </p:spTree>
    <p:extLst>
      <p:ext uri="{BB962C8B-B14F-4D97-AF65-F5344CB8AC3E}">
        <p14:creationId xmlns:p14="http://schemas.microsoft.com/office/powerpoint/2010/main" val="26334180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AA308CE6-9A3D-4A15-B240-67ED59062F4C}"/>
              </a:ext>
            </a:extLst>
          </p:cNvPr>
          <p:cNvSpPr txBox="1"/>
          <p:nvPr/>
        </p:nvSpPr>
        <p:spPr>
          <a:xfrm>
            <a:off x="628649" y="421832"/>
            <a:ext cx="11341677" cy="471283"/>
          </a:xfrm>
          <a:prstGeom prst="rect">
            <a:avLst/>
          </a:prstGeom>
        </p:spPr>
        <p:txBody>
          <a:bodyPr vert="horz" wrap="square" lIns="0" tIns="9525" rIns="0" bIns="0" rtlCol="0">
            <a:spAutoFit/>
          </a:bodyPr>
          <a:lstStyle/>
          <a:p>
            <a:pPr marL="9525">
              <a:spcBef>
                <a:spcPts val="75"/>
              </a:spcBef>
            </a:pPr>
            <a:r>
              <a:rPr lang="en-US" sz="3000" b="1" spc="-4" dirty="0">
                <a:solidFill>
                  <a:srgbClr val="008000"/>
                </a:solidFill>
                <a:latin typeface="Gotham" panose="02000504050000020004" pitchFamily="2" charset="0"/>
                <a:cs typeface="Arial"/>
              </a:rPr>
              <a:t>STRATEGIES IN UNDERSTANING COMPREHENSIONS           </a:t>
            </a:r>
            <a:r>
              <a:rPr lang="en-US" sz="3000" b="1" spc="-4" dirty="0" err="1">
                <a:solidFill>
                  <a:srgbClr val="008000"/>
                </a:solidFill>
                <a:latin typeface="Gotham" panose="02000504050000020004" pitchFamily="2" charset="0"/>
                <a:cs typeface="Arial"/>
              </a:rPr>
              <a:t>con’t</a:t>
            </a:r>
            <a:r>
              <a:rPr lang="en-US" sz="3000" b="1" spc="-4" dirty="0">
                <a:solidFill>
                  <a:srgbClr val="008000"/>
                </a:solidFill>
                <a:latin typeface="Gotham" panose="02000504050000020004" pitchFamily="2" charset="0"/>
                <a:cs typeface="Arial"/>
              </a:rPr>
              <a:t> </a:t>
            </a:r>
            <a:endParaRPr lang="en-US" sz="3000" dirty="0">
              <a:solidFill>
                <a:srgbClr val="008000"/>
              </a:solidFill>
              <a:latin typeface="Gotham" panose="02000504050000020004" pitchFamily="2" charset="0"/>
              <a:cs typeface="Arial"/>
            </a:endParaRPr>
          </a:p>
        </p:txBody>
      </p:sp>
      <p:sp>
        <p:nvSpPr>
          <p:cNvPr id="6" name="TextBox 5">
            <a:extLst>
              <a:ext uri="{FF2B5EF4-FFF2-40B4-BE49-F238E27FC236}">
                <a16:creationId xmlns:a16="http://schemas.microsoft.com/office/drawing/2014/main" id="{D687606E-2D98-4A1A-8A97-39D60D5C7512}"/>
              </a:ext>
            </a:extLst>
          </p:cNvPr>
          <p:cNvSpPr txBox="1"/>
          <p:nvPr/>
        </p:nvSpPr>
        <p:spPr>
          <a:xfrm>
            <a:off x="628650" y="1047004"/>
            <a:ext cx="11050732" cy="4594591"/>
          </a:xfrm>
          <a:prstGeom prst="rect">
            <a:avLst/>
          </a:prstGeom>
          <a:noFill/>
        </p:spPr>
        <p:txBody>
          <a:bodyPr wrap="square">
            <a:spAutoFit/>
          </a:bodyPr>
          <a:lstStyle/>
          <a:p>
            <a:pPr marL="9525" marR="395764" algn="just">
              <a:lnSpc>
                <a:spcPct val="100800"/>
              </a:lnSpc>
              <a:spcBef>
                <a:spcPts val="56"/>
              </a:spcBef>
            </a:pPr>
            <a:r>
              <a:rPr lang="en-US" sz="2400" b="1" dirty="0">
                <a:latin typeface="Times New Roman" panose="02020603050405020304" pitchFamily="18" charset="0"/>
                <a:cs typeface="Times New Roman" panose="02020603050405020304" pitchFamily="18" charset="0"/>
              </a:rPr>
              <a:t>3. Patterns of organization</a:t>
            </a:r>
            <a:r>
              <a:rPr lang="en-US" sz="2400" dirty="0">
                <a:latin typeface="Times New Roman" panose="02020603050405020304" pitchFamily="18" charset="0"/>
                <a:cs typeface="Times New Roman" panose="02020603050405020304" pitchFamily="18" charset="0"/>
              </a:rPr>
              <a:t>: A reader is able to understand a comprehension passage by knowing the principles that govern paragraph structure and patterns of organization. Authors will help readers in understanding a comprehension passage by introducing the main ideas, and arranging the supporting details in several common patterns including cause and effect, comparison and/or contrast, and time order relation. </a:t>
            </a:r>
          </a:p>
          <a:p>
            <a:pPr marL="9525" marR="395764" algn="just">
              <a:lnSpc>
                <a:spcPct val="100800"/>
              </a:lnSpc>
              <a:spcBef>
                <a:spcPts val="56"/>
              </a:spcBef>
            </a:pPr>
            <a:endParaRPr lang="en-US" sz="2400" b="1" dirty="0">
              <a:latin typeface="Times New Roman" panose="02020603050405020304" pitchFamily="18" charset="0"/>
              <a:cs typeface="Times New Roman" panose="02020603050405020304" pitchFamily="18" charset="0"/>
            </a:endParaRPr>
          </a:p>
          <a:p>
            <a:pPr marL="9525" marR="395764" algn="just">
              <a:lnSpc>
                <a:spcPct val="100800"/>
              </a:lnSpc>
              <a:spcBef>
                <a:spcPts val="56"/>
              </a:spcBef>
            </a:pPr>
            <a:r>
              <a:rPr lang="en-US" sz="2400" b="1" dirty="0">
                <a:latin typeface="Times New Roman" panose="02020603050405020304" pitchFamily="18" charset="0"/>
                <a:cs typeface="Times New Roman" panose="02020603050405020304" pitchFamily="18" charset="0"/>
              </a:rPr>
              <a:t>4. Drawing inferences</a:t>
            </a:r>
            <a:r>
              <a:rPr lang="en-US" sz="2400" dirty="0">
                <a:latin typeface="Times New Roman" panose="02020603050405020304" pitchFamily="18" charset="0"/>
                <a:cs typeface="Times New Roman" panose="02020603050405020304" pitchFamily="18" charset="0"/>
              </a:rPr>
              <a:t>: The reader’s ability to discover ideas not stated explicitly or directly in the text in important for a full understanding of what the author means. Drawing inferences from what we read involves discovering the ideas that are not stated directly and this can be achieved by using one’s experiences and general knowledge to make informed guesses based on facts observed.  </a:t>
            </a:r>
            <a:endParaRPr lang="en-US" sz="24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F4801FD5-11B4-DE43-ACA2-E85EEB9A6F9C}" type="slidenum">
              <a:rPr lang="en-US" smtClean="0"/>
              <a:t>11</a:t>
            </a:fld>
            <a:endParaRPr lang="en-US" dirty="0"/>
          </a:p>
        </p:txBody>
      </p:sp>
    </p:spTree>
    <p:extLst>
      <p:ext uri="{BB962C8B-B14F-4D97-AF65-F5344CB8AC3E}">
        <p14:creationId xmlns:p14="http://schemas.microsoft.com/office/powerpoint/2010/main" val="38938834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AA308CE6-9A3D-4A15-B240-67ED59062F4C}"/>
              </a:ext>
            </a:extLst>
          </p:cNvPr>
          <p:cNvSpPr txBox="1"/>
          <p:nvPr/>
        </p:nvSpPr>
        <p:spPr>
          <a:xfrm>
            <a:off x="628650" y="186190"/>
            <a:ext cx="10725150" cy="471283"/>
          </a:xfrm>
          <a:prstGeom prst="rect">
            <a:avLst/>
          </a:prstGeom>
        </p:spPr>
        <p:txBody>
          <a:bodyPr vert="horz" wrap="square" lIns="0" tIns="9525" rIns="0" bIns="0" rtlCol="0">
            <a:spAutoFit/>
          </a:bodyPr>
          <a:lstStyle/>
          <a:p>
            <a:pPr marL="9525">
              <a:spcBef>
                <a:spcPts val="75"/>
              </a:spcBef>
            </a:pPr>
            <a:r>
              <a:rPr lang="en-US" sz="3000" b="1" spc="-4" dirty="0">
                <a:solidFill>
                  <a:srgbClr val="008000"/>
                </a:solidFill>
                <a:latin typeface="Gotham" panose="02000504050000020004" pitchFamily="2" charset="0"/>
                <a:cs typeface="Arial"/>
              </a:rPr>
              <a:t>TYPES OF COMPREHENSION QUESTIONS</a:t>
            </a:r>
            <a:endParaRPr lang="en-US" sz="3000" dirty="0">
              <a:solidFill>
                <a:srgbClr val="008000"/>
              </a:solidFill>
              <a:latin typeface="Gotham" panose="02000504050000020004" pitchFamily="2" charset="0"/>
              <a:cs typeface="Arial"/>
            </a:endParaRPr>
          </a:p>
        </p:txBody>
      </p:sp>
      <p:sp>
        <p:nvSpPr>
          <p:cNvPr id="6" name="TextBox 5">
            <a:extLst>
              <a:ext uri="{FF2B5EF4-FFF2-40B4-BE49-F238E27FC236}">
                <a16:creationId xmlns:a16="http://schemas.microsoft.com/office/drawing/2014/main" id="{D687606E-2D98-4A1A-8A97-39D60D5C7512}"/>
              </a:ext>
            </a:extLst>
          </p:cNvPr>
          <p:cNvSpPr txBox="1"/>
          <p:nvPr/>
        </p:nvSpPr>
        <p:spPr>
          <a:xfrm>
            <a:off x="220374" y="738818"/>
            <a:ext cx="11541702" cy="4992200"/>
          </a:xfrm>
          <a:prstGeom prst="rect">
            <a:avLst/>
          </a:prstGeom>
          <a:noFill/>
        </p:spPr>
        <p:txBody>
          <a:bodyPr wrap="square">
            <a:spAutoFit/>
          </a:bodyPr>
          <a:lstStyle/>
          <a:p>
            <a:pPr marL="352425" marR="395764" indent="-342900" algn="just">
              <a:lnSpc>
                <a:spcPct val="100800"/>
              </a:lnSpc>
              <a:spcBef>
                <a:spcPts val="56"/>
              </a:spcBef>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Content Questions</a:t>
            </a:r>
            <a:r>
              <a:rPr lang="en-US" sz="2000" dirty="0">
                <a:latin typeface="Times New Roman" panose="02020603050405020304" pitchFamily="18" charset="0"/>
                <a:cs typeface="Times New Roman" panose="02020603050405020304" pitchFamily="18" charset="0"/>
              </a:rPr>
              <a:t>: These are questions that the answers can be found directly in the passage (the comprehension text). Such questions begin with who, when, what, how, which, etc.</a:t>
            </a:r>
          </a:p>
          <a:p>
            <a:pPr marL="9525" marR="395764" algn="just">
              <a:lnSpc>
                <a:spcPct val="100800"/>
              </a:lnSpc>
              <a:spcBef>
                <a:spcPts val="56"/>
              </a:spcBef>
            </a:pPr>
            <a:endParaRPr lang="en-US" sz="1100" dirty="0">
              <a:latin typeface="Times New Roman" panose="02020603050405020304" pitchFamily="18" charset="0"/>
              <a:cs typeface="Times New Roman" panose="02020603050405020304" pitchFamily="18" charset="0"/>
            </a:endParaRPr>
          </a:p>
          <a:p>
            <a:pPr marL="352425" marR="395764" indent="-342900" algn="just">
              <a:lnSpc>
                <a:spcPct val="100800"/>
              </a:lnSpc>
              <a:spcBef>
                <a:spcPts val="56"/>
              </a:spcBef>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Inferential/Deductive Questions:</a:t>
            </a:r>
            <a:r>
              <a:rPr lang="en-US" sz="2000" dirty="0">
                <a:latin typeface="Times New Roman" panose="02020603050405020304" pitchFamily="18" charset="0"/>
                <a:cs typeface="Times New Roman" panose="02020603050405020304" pitchFamily="18" charset="0"/>
              </a:rPr>
              <a:t> These are questions that the answers cannot be found directly in the passage but there are cues in the passage for you to deduce the answer. </a:t>
            </a:r>
          </a:p>
          <a:p>
            <a:pPr marL="9525" marR="395764" algn="just">
              <a:lnSpc>
                <a:spcPct val="100800"/>
              </a:lnSpc>
              <a:spcBef>
                <a:spcPts val="56"/>
              </a:spcBef>
            </a:pPr>
            <a:endParaRPr lang="en-US" sz="1200" dirty="0">
              <a:latin typeface="Times New Roman" panose="02020603050405020304" pitchFamily="18" charset="0"/>
              <a:cs typeface="Times New Roman" panose="02020603050405020304" pitchFamily="18" charset="0"/>
            </a:endParaRPr>
          </a:p>
          <a:p>
            <a:pPr marL="352425" marR="395764" indent="-342900" algn="just">
              <a:lnSpc>
                <a:spcPct val="100800"/>
              </a:lnSpc>
              <a:spcBef>
                <a:spcPts val="56"/>
              </a:spcBef>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Appreciative Questions</a:t>
            </a:r>
            <a:r>
              <a:rPr lang="en-US" sz="2000" dirty="0">
                <a:latin typeface="Times New Roman" panose="02020603050405020304" pitchFamily="18" charset="0"/>
                <a:cs typeface="Times New Roman" panose="02020603050405020304" pitchFamily="18" charset="0"/>
              </a:rPr>
              <a:t> (questions on figures of speech): These are questions about the writer’s choice of words. (e.g. the use of simile, metaphor, etc.) </a:t>
            </a:r>
          </a:p>
          <a:p>
            <a:pPr marL="352425" marR="395764" indent="-342900" algn="just">
              <a:lnSpc>
                <a:spcPct val="100800"/>
              </a:lnSpc>
              <a:spcBef>
                <a:spcPts val="56"/>
              </a:spcBef>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marL="352425" marR="395764" indent="-342900" algn="just">
              <a:lnSpc>
                <a:spcPct val="100800"/>
              </a:lnSpc>
              <a:spcBef>
                <a:spcPts val="56"/>
              </a:spcBef>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Vocabulary in Context Questions</a:t>
            </a:r>
            <a:r>
              <a:rPr lang="en-US" sz="2000" dirty="0">
                <a:latin typeface="Times New Roman" panose="02020603050405020304" pitchFamily="18" charset="0"/>
                <a:cs typeface="Times New Roman" panose="02020603050405020304" pitchFamily="18" charset="0"/>
              </a:rPr>
              <a:t>: These questions require providing a word or a phrase that means the same and can be used to replace a word used in the passage. These questions are answered appropriately by taking the context in which the word is used into consideration, and not necessarily the dictionary meaning of the word in question.</a:t>
            </a:r>
          </a:p>
          <a:p>
            <a:pPr marL="352425" marR="395764" indent="-342900" algn="just">
              <a:lnSpc>
                <a:spcPct val="100800"/>
              </a:lnSpc>
              <a:spcBef>
                <a:spcPts val="56"/>
              </a:spcBef>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marL="352425" marR="395764" indent="-342900" algn="just">
              <a:lnSpc>
                <a:spcPct val="100800"/>
              </a:lnSpc>
              <a:spcBef>
                <a:spcPts val="56"/>
              </a:spcBef>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Summary Type Questions: </a:t>
            </a:r>
            <a:r>
              <a:rPr lang="en-US" sz="2000" dirty="0">
                <a:latin typeface="Times New Roman" panose="02020603050405020304" pitchFamily="18" charset="0"/>
                <a:cs typeface="Times New Roman" panose="02020603050405020304" pitchFamily="18" charset="0"/>
              </a:rPr>
              <a:t>These questions require stating only the main idea(s).</a:t>
            </a:r>
          </a:p>
          <a:p>
            <a:pPr marL="352425" marR="395764" indent="-342900" algn="just">
              <a:lnSpc>
                <a:spcPct val="100800"/>
              </a:lnSpc>
              <a:spcBef>
                <a:spcPts val="56"/>
              </a:spcBef>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marL="352425" marR="395764" indent="-342900" algn="just">
              <a:lnSpc>
                <a:spcPct val="100800"/>
              </a:lnSpc>
              <a:spcBef>
                <a:spcPts val="56"/>
              </a:spcBef>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Quoting: </a:t>
            </a:r>
            <a:r>
              <a:rPr lang="en-US" sz="2000" dirty="0">
                <a:latin typeface="Times New Roman" panose="02020603050405020304" pitchFamily="18" charset="0"/>
                <a:cs typeface="Times New Roman" panose="02020603050405020304" pitchFamily="18" charset="0"/>
              </a:rPr>
              <a:t>These questions require that you quote a portion of the text to support your answer or opinion. </a:t>
            </a:r>
            <a:endParaRPr lang="en-US" sz="2000" b="1"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F4801FD5-11B4-DE43-ACA2-E85EEB9A6F9C}" type="slidenum">
              <a:rPr lang="en-US" smtClean="0"/>
              <a:t>12</a:t>
            </a:fld>
            <a:endParaRPr lang="en-US" dirty="0"/>
          </a:p>
        </p:txBody>
      </p:sp>
    </p:spTree>
    <p:extLst>
      <p:ext uri="{BB962C8B-B14F-4D97-AF65-F5344CB8AC3E}">
        <p14:creationId xmlns:p14="http://schemas.microsoft.com/office/powerpoint/2010/main" val="33200313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AA308CE6-9A3D-4A15-B240-67ED59062F4C}"/>
              </a:ext>
            </a:extLst>
          </p:cNvPr>
          <p:cNvSpPr txBox="1"/>
          <p:nvPr/>
        </p:nvSpPr>
        <p:spPr>
          <a:xfrm>
            <a:off x="628650" y="186190"/>
            <a:ext cx="10725150" cy="471283"/>
          </a:xfrm>
          <a:prstGeom prst="rect">
            <a:avLst/>
          </a:prstGeom>
        </p:spPr>
        <p:txBody>
          <a:bodyPr vert="horz" wrap="square" lIns="0" tIns="9525" rIns="0" bIns="0" rtlCol="0">
            <a:spAutoFit/>
          </a:bodyPr>
          <a:lstStyle/>
          <a:p>
            <a:pPr marL="9525">
              <a:spcBef>
                <a:spcPts val="75"/>
              </a:spcBef>
            </a:pPr>
            <a:r>
              <a:rPr lang="en-US" sz="3000" b="1" spc="-4" dirty="0">
                <a:solidFill>
                  <a:srgbClr val="008000"/>
                </a:solidFill>
                <a:latin typeface="Gotham" panose="02000504050000020004" pitchFamily="2" charset="0"/>
                <a:cs typeface="Arial"/>
              </a:rPr>
              <a:t>SOME FIGURES OF SPEECH USE IN COMPREHENSION TEXTS</a:t>
            </a:r>
            <a:endParaRPr lang="en-US" sz="3000" dirty="0">
              <a:solidFill>
                <a:srgbClr val="008000"/>
              </a:solidFill>
              <a:latin typeface="Gotham" panose="02000504050000020004" pitchFamily="2" charset="0"/>
              <a:cs typeface="Arial"/>
            </a:endParaRPr>
          </a:p>
        </p:txBody>
      </p:sp>
      <p:sp>
        <p:nvSpPr>
          <p:cNvPr id="6" name="TextBox 5">
            <a:extLst>
              <a:ext uri="{FF2B5EF4-FFF2-40B4-BE49-F238E27FC236}">
                <a16:creationId xmlns:a16="http://schemas.microsoft.com/office/drawing/2014/main" id="{D687606E-2D98-4A1A-8A97-39D60D5C7512}"/>
              </a:ext>
            </a:extLst>
          </p:cNvPr>
          <p:cNvSpPr txBox="1"/>
          <p:nvPr/>
        </p:nvSpPr>
        <p:spPr>
          <a:xfrm>
            <a:off x="220373" y="738818"/>
            <a:ext cx="11849707" cy="4824398"/>
          </a:xfrm>
          <a:prstGeom prst="rect">
            <a:avLst/>
          </a:prstGeom>
          <a:noFill/>
        </p:spPr>
        <p:txBody>
          <a:bodyPr wrap="square">
            <a:spAutoFit/>
          </a:bodyPr>
          <a:lstStyle/>
          <a:p>
            <a:pPr marL="352425" marR="395764" indent="-342900" algn="just">
              <a:lnSpc>
                <a:spcPct val="150000"/>
              </a:lnSpc>
              <a:spcBef>
                <a:spcPts val="56"/>
              </a:spcBef>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Simile </a:t>
            </a:r>
          </a:p>
          <a:p>
            <a:pPr marL="352425" marR="395764" indent="-342900" algn="just">
              <a:lnSpc>
                <a:spcPct val="150000"/>
              </a:lnSpc>
              <a:spcBef>
                <a:spcPts val="56"/>
              </a:spcBef>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Metaphor </a:t>
            </a:r>
          </a:p>
          <a:p>
            <a:pPr marL="352425" marR="395764" indent="-342900" algn="just">
              <a:lnSpc>
                <a:spcPct val="150000"/>
              </a:lnSpc>
              <a:spcBef>
                <a:spcPts val="56"/>
              </a:spcBef>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Personification </a:t>
            </a:r>
          </a:p>
          <a:p>
            <a:pPr marL="352425" marR="395764" indent="-342900" algn="just">
              <a:lnSpc>
                <a:spcPct val="150000"/>
              </a:lnSpc>
              <a:spcBef>
                <a:spcPts val="56"/>
              </a:spcBef>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Irony</a:t>
            </a:r>
          </a:p>
          <a:p>
            <a:pPr marL="352425" marR="395764" indent="-342900" algn="just">
              <a:lnSpc>
                <a:spcPct val="150000"/>
              </a:lnSpc>
              <a:spcBef>
                <a:spcPts val="56"/>
              </a:spcBef>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Paradox </a:t>
            </a:r>
          </a:p>
          <a:p>
            <a:pPr marL="352425" marR="395764" indent="-342900" algn="just">
              <a:lnSpc>
                <a:spcPct val="150000"/>
              </a:lnSpc>
              <a:spcBef>
                <a:spcPts val="56"/>
              </a:spcBef>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Oxymoron</a:t>
            </a:r>
          </a:p>
          <a:p>
            <a:pPr marL="352425" marR="395764" indent="-342900" algn="just">
              <a:lnSpc>
                <a:spcPct val="150000"/>
              </a:lnSpc>
              <a:spcBef>
                <a:spcPts val="56"/>
              </a:spcBef>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Euphemism </a:t>
            </a:r>
          </a:p>
          <a:p>
            <a:pPr marL="352425" marR="395764" indent="-342900" algn="just">
              <a:lnSpc>
                <a:spcPct val="150000"/>
              </a:lnSpc>
              <a:spcBef>
                <a:spcPts val="56"/>
              </a:spcBef>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Hyperbole </a:t>
            </a:r>
            <a:endParaRPr lang="en-US" sz="2000" dirty="0">
              <a:latin typeface="Times New Roman" panose="02020603050405020304" pitchFamily="18" charset="0"/>
              <a:cs typeface="Times New Roman" panose="02020603050405020304" pitchFamily="18" charset="0"/>
            </a:endParaRPr>
          </a:p>
          <a:p>
            <a:pPr marL="352425" marR="395764" indent="-342900" algn="just">
              <a:lnSpc>
                <a:spcPct val="150000"/>
              </a:lnSpc>
              <a:spcBef>
                <a:spcPts val="56"/>
              </a:spcBef>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Homophones </a:t>
            </a:r>
          </a:p>
          <a:p>
            <a:pPr marL="352425" marR="395764" indent="-342900" algn="just">
              <a:lnSpc>
                <a:spcPct val="150000"/>
              </a:lnSpc>
              <a:spcBef>
                <a:spcPts val="56"/>
              </a:spcBef>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Idioms</a:t>
            </a:r>
          </a:p>
        </p:txBody>
      </p:sp>
      <p:sp>
        <p:nvSpPr>
          <p:cNvPr id="2" name="Slide Number Placeholder 1"/>
          <p:cNvSpPr>
            <a:spLocks noGrp="1"/>
          </p:cNvSpPr>
          <p:nvPr>
            <p:ph type="sldNum" sz="quarter" idx="12"/>
          </p:nvPr>
        </p:nvSpPr>
        <p:spPr/>
        <p:txBody>
          <a:bodyPr/>
          <a:lstStyle/>
          <a:p>
            <a:fld id="{F4801FD5-11B4-DE43-ACA2-E85EEB9A6F9C}" type="slidenum">
              <a:rPr lang="en-US" smtClean="0"/>
              <a:t>13</a:t>
            </a:fld>
            <a:endParaRPr lang="en-US" dirty="0"/>
          </a:p>
        </p:txBody>
      </p:sp>
    </p:spTree>
    <p:extLst>
      <p:ext uri="{BB962C8B-B14F-4D97-AF65-F5344CB8AC3E}">
        <p14:creationId xmlns:p14="http://schemas.microsoft.com/office/powerpoint/2010/main" val="4474450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AA308CE6-9A3D-4A15-B240-67ED59062F4C}"/>
              </a:ext>
            </a:extLst>
          </p:cNvPr>
          <p:cNvSpPr txBox="1"/>
          <p:nvPr/>
        </p:nvSpPr>
        <p:spPr>
          <a:xfrm>
            <a:off x="628650" y="186190"/>
            <a:ext cx="10725150" cy="471283"/>
          </a:xfrm>
          <a:prstGeom prst="rect">
            <a:avLst/>
          </a:prstGeom>
        </p:spPr>
        <p:txBody>
          <a:bodyPr vert="horz" wrap="square" lIns="0" tIns="9525" rIns="0" bIns="0" rtlCol="0">
            <a:spAutoFit/>
          </a:bodyPr>
          <a:lstStyle/>
          <a:p>
            <a:pPr marL="9525">
              <a:spcBef>
                <a:spcPts val="75"/>
              </a:spcBef>
            </a:pPr>
            <a:r>
              <a:rPr lang="en-US" sz="3000" b="1" spc="-4" dirty="0">
                <a:solidFill>
                  <a:srgbClr val="008000"/>
                </a:solidFill>
                <a:latin typeface="Gotham" panose="02000504050000020004" pitchFamily="2" charset="0"/>
                <a:cs typeface="Arial"/>
              </a:rPr>
              <a:t>READING TECHNIQUE: “SQ3R”  </a:t>
            </a:r>
            <a:endParaRPr lang="en-US" sz="3000" dirty="0">
              <a:solidFill>
                <a:srgbClr val="008000"/>
              </a:solidFill>
              <a:latin typeface="Gotham" panose="02000504050000020004" pitchFamily="2" charset="0"/>
              <a:cs typeface="Arial"/>
            </a:endParaRPr>
          </a:p>
        </p:txBody>
      </p:sp>
      <p:sp>
        <p:nvSpPr>
          <p:cNvPr id="6" name="TextBox 5">
            <a:extLst>
              <a:ext uri="{FF2B5EF4-FFF2-40B4-BE49-F238E27FC236}">
                <a16:creationId xmlns:a16="http://schemas.microsoft.com/office/drawing/2014/main" id="{D687606E-2D98-4A1A-8A97-39D60D5C7512}"/>
              </a:ext>
            </a:extLst>
          </p:cNvPr>
          <p:cNvSpPr txBox="1"/>
          <p:nvPr/>
        </p:nvSpPr>
        <p:spPr>
          <a:xfrm>
            <a:off x="484908" y="738818"/>
            <a:ext cx="11277601" cy="5032147"/>
          </a:xfrm>
          <a:prstGeom prst="rect">
            <a:avLst/>
          </a:prstGeom>
          <a:noFill/>
        </p:spPr>
        <p:txBody>
          <a:bodyPr wrap="square">
            <a:spAutoFit/>
          </a:bodyPr>
          <a:lstStyle/>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SQ3R</a:t>
            </a:r>
            <a:r>
              <a:rPr lang="en-US" sz="2000" dirty="0">
                <a:latin typeface="Times New Roman" panose="02020603050405020304" pitchFamily="18" charset="0"/>
                <a:cs typeface="Times New Roman" panose="02020603050405020304" pitchFamily="18" charset="0"/>
              </a:rPr>
              <a:t> study method is a popular system designed to strengthen students’ reading muscles. </a:t>
            </a:r>
          </a:p>
          <a:p>
            <a:pPr marL="285750" indent="-285750" algn="just">
              <a:buFont typeface="Arial" panose="020B0604020202020204" pitchFamily="34" charset="0"/>
              <a:buChar char="•"/>
            </a:pPr>
            <a:endParaRPr lang="en-US" sz="9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One of the greatest benefits of </a:t>
            </a:r>
            <a:r>
              <a:rPr lang="en-US" sz="2000" b="1" dirty="0">
                <a:latin typeface="Times New Roman" panose="02020603050405020304" pitchFamily="18" charset="0"/>
                <a:cs typeface="Times New Roman" panose="02020603050405020304" pitchFamily="18" charset="0"/>
              </a:rPr>
              <a:t>SQ3R </a:t>
            </a:r>
            <a:r>
              <a:rPr lang="en-US" sz="2000" dirty="0">
                <a:latin typeface="Times New Roman" panose="02020603050405020304" pitchFamily="18" charset="0"/>
                <a:cs typeface="Times New Roman" panose="02020603050405020304" pitchFamily="18" charset="0"/>
              </a:rPr>
              <a:t>technique is that it helps you understand more of what you are reading, especially when you are reading it </a:t>
            </a:r>
            <a:r>
              <a:rPr lang="en-US" sz="2000" i="1" dirty="0">
                <a:latin typeface="Times New Roman" panose="02020603050405020304" pitchFamily="18" charset="0"/>
                <a:cs typeface="Times New Roman" panose="02020603050405020304" pitchFamily="18" charset="0"/>
              </a:rPr>
              <a:t>the first time</a:t>
            </a:r>
            <a:r>
              <a:rPr lang="en-US" sz="2000" dirty="0">
                <a:latin typeface="Times New Roman" panose="02020603050405020304" pitchFamily="18" charset="0"/>
                <a:cs typeface="Times New Roman" panose="02020603050405020304" pitchFamily="18" charset="0"/>
              </a:rPr>
              <a:t>. </a:t>
            </a:r>
          </a:p>
          <a:p>
            <a:pPr marL="285750" indent="-28575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SQ3R stands for:</a:t>
            </a:r>
          </a:p>
          <a:p>
            <a:pPr algn="just"/>
            <a:r>
              <a:rPr lang="en-US" sz="2000" b="1" dirty="0">
                <a:latin typeface="Times New Roman" panose="02020603050405020304" pitchFamily="18" charset="0"/>
                <a:cs typeface="Times New Roman" panose="02020603050405020304" pitchFamily="18" charset="0"/>
              </a:rPr>
              <a:t>       - Survey</a:t>
            </a:r>
          </a:p>
          <a:p>
            <a:pPr algn="just"/>
            <a:r>
              <a:rPr lang="en-US" sz="2000" b="1" dirty="0">
                <a:latin typeface="Times New Roman" panose="02020603050405020304" pitchFamily="18" charset="0"/>
                <a:cs typeface="Times New Roman" panose="02020603050405020304" pitchFamily="18" charset="0"/>
              </a:rPr>
              <a:t>	- Question</a:t>
            </a:r>
          </a:p>
          <a:p>
            <a:pPr algn="just"/>
            <a:r>
              <a:rPr lang="en-US" sz="2000" b="1" dirty="0">
                <a:latin typeface="Times New Roman" panose="02020603050405020304" pitchFamily="18" charset="0"/>
                <a:cs typeface="Times New Roman" panose="02020603050405020304" pitchFamily="18" charset="0"/>
              </a:rPr>
              <a:t>       - Read</a:t>
            </a:r>
          </a:p>
          <a:p>
            <a:pPr algn="just"/>
            <a:r>
              <a:rPr lang="en-US" sz="2000" b="1" dirty="0">
                <a:latin typeface="Times New Roman" panose="02020603050405020304" pitchFamily="18" charset="0"/>
                <a:cs typeface="Times New Roman" panose="02020603050405020304" pitchFamily="18" charset="0"/>
              </a:rPr>
              <a:t>       - Recite</a:t>
            </a:r>
          </a:p>
          <a:p>
            <a:pPr algn="just"/>
            <a:r>
              <a:rPr lang="en-US" sz="2000" b="1" dirty="0">
                <a:latin typeface="Times New Roman" panose="02020603050405020304" pitchFamily="18" charset="0"/>
                <a:cs typeface="Times New Roman" panose="02020603050405020304" pitchFamily="18" charset="0"/>
              </a:rPr>
              <a:t>       - Review</a:t>
            </a:r>
          </a:p>
          <a:p>
            <a:pPr algn="just"/>
            <a:r>
              <a:rPr lang="en-US" sz="2000" dirty="0">
                <a:latin typeface="Times New Roman" panose="02020603050405020304" pitchFamily="18" charset="0"/>
                <a:cs typeface="Times New Roman" panose="02020603050405020304" pitchFamily="18" charset="0"/>
              </a:rPr>
              <a:t> </a:t>
            </a:r>
          </a:p>
          <a:p>
            <a:pPr algn="just"/>
            <a:r>
              <a:rPr lang="en-US" sz="2000" dirty="0">
                <a:latin typeface="Times New Roman" panose="02020603050405020304" pitchFamily="18" charset="0"/>
                <a:cs typeface="Times New Roman" panose="02020603050405020304" pitchFamily="18" charset="0"/>
              </a:rPr>
              <a:t>																		(www.khanacademy.org)</a:t>
            </a:r>
          </a:p>
          <a:p>
            <a:endParaRPr lang="en-US" dirty="0"/>
          </a:p>
          <a:p>
            <a:endParaRPr lang="en-US" dirty="0"/>
          </a:p>
          <a:p>
            <a:endParaRPr lang="en-US" dirty="0"/>
          </a:p>
          <a:p>
            <a:endParaRPr lang="en-US" dirty="0"/>
          </a:p>
        </p:txBody>
      </p:sp>
      <p:sp>
        <p:nvSpPr>
          <p:cNvPr id="2" name="Slide Number Placeholder 1"/>
          <p:cNvSpPr>
            <a:spLocks noGrp="1"/>
          </p:cNvSpPr>
          <p:nvPr>
            <p:ph type="sldNum" sz="quarter" idx="12"/>
          </p:nvPr>
        </p:nvSpPr>
        <p:spPr/>
        <p:txBody>
          <a:bodyPr/>
          <a:lstStyle/>
          <a:p>
            <a:fld id="{F4801FD5-11B4-DE43-ACA2-E85EEB9A6F9C}" type="slidenum">
              <a:rPr lang="en-US" smtClean="0"/>
              <a:t>14</a:t>
            </a:fld>
            <a:endParaRPr lang="en-US" dirty="0"/>
          </a:p>
        </p:txBody>
      </p:sp>
    </p:spTree>
    <p:extLst>
      <p:ext uri="{BB962C8B-B14F-4D97-AF65-F5344CB8AC3E}">
        <p14:creationId xmlns:p14="http://schemas.microsoft.com/office/powerpoint/2010/main" val="10061903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AA308CE6-9A3D-4A15-B240-67ED59062F4C}"/>
              </a:ext>
            </a:extLst>
          </p:cNvPr>
          <p:cNvSpPr txBox="1"/>
          <p:nvPr/>
        </p:nvSpPr>
        <p:spPr>
          <a:xfrm>
            <a:off x="628650" y="186190"/>
            <a:ext cx="10725150" cy="471283"/>
          </a:xfrm>
          <a:prstGeom prst="rect">
            <a:avLst/>
          </a:prstGeom>
        </p:spPr>
        <p:txBody>
          <a:bodyPr vert="horz" wrap="square" lIns="0" tIns="9525" rIns="0" bIns="0" rtlCol="0">
            <a:spAutoFit/>
          </a:bodyPr>
          <a:lstStyle/>
          <a:p>
            <a:pPr marL="9525">
              <a:spcBef>
                <a:spcPts val="75"/>
              </a:spcBef>
            </a:pPr>
            <a:r>
              <a:rPr lang="en-US" sz="3000" b="1" spc="-4" dirty="0">
                <a:solidFill>
                  <a:srgbClr val="008000"/>
                </a:solidFill>
                <a:latin typeface="Gotham" panose="02000504050000020004" pitchFamily="2" charset="0"/>
                <a:cs typeface="Arial"/>
              </a:rPr>
              <a:t>READING TECHNIQUE: “SQ3R”                              </a:t>
            </a:r>
            <a:r>
              <a:rPr lang="en-US" sz="3000" b="1" spc="-4" dirty="0" err="1">
                <a:solidFill>
                  <a:srgbClr val="008000"/>
                </a:solidFill>
                <a:latin typeface="Gotham" panose="02000504050000020004" pitchFamily="2" charset="0"/>
                <a:cs typeface="Arial"/>
              </a:rPr>
              <a:t>con’t</a:t>
            </a:r>
            <a:r>
              <a:rPr lang="en-US" sz="3000" b="1" spc="-4" dirty="0">
                <a:solidFill>
                  <a:srgbClr val="008000"/>
                </a:solidFill>
                <a:latin typeface="Gotham" panose="02000504050000020004" pitchFamily="2" charset="0"/>
                <a:cs typeface="Arial"/>
              </a:rPr>
              <a:t>  </a:t>
            </a:r>
            <a:endParaRPr lang="en-US" sz="3000" dirty="0">
              <a:solidFill>
                <a:srgbClr val="008000"/>
              </a:solidFill>
              <a:latin typeface="Gotham" panose="02000504050000020004" pitchFamily="2" charset="0"/>
              <a:cs typeface="Arial"/>
            </a:endParaRPr>
          </a:p>
        </p:txBody>
      </p:sp>
      <p:sp>
        <p:nvSpPr>
          <p:cNvPr id="6" name="TextBox 5">
            <a:extLst>
              <a:ext uri="{FF2B5EF4-FFF2-40B4-BE49-F238E27FC236}">
                <a16:creationId xmlns:a16="http://schemas.microsoft.com/office/drawing/2014/main" id="{D687606E-2D98-4A1A-8A97-39D60D5C7512}"/>
              </a:ext>
            </a:extLst>
          </p:cNvPr>
          <p:cNvSpPr txBox="1"/>
          <p:nvPr/>
        </p:nvSpPr>
        <p:spPr>
          <a:xfrm>
            <a:off x="484908" y="738818"/>
            <a:ext cx="11277601" cy="6063198"/>
          </a:xfrm>
          <a:prstGeom prst="rect">
            <a:avLst/>
          </a:prstGeom>
          <a:noFill/>
        </p:spPr>
        <p:txBody>
          <a:bodyPr wrap="square">
            <a:spAutoFit/>
          </a:bodyPr>
          <a:lstStyle/>
          <a:p>
            <a:pPr marL="285750" indent="-28575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Step-by-step approach</a:t>
            </a:r>
            <a:r>
              <a:rPr lang="en-US" sz="2000" dirty="0">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	- </a:t>
            </a:r>
            <a:r>
              <a:rPr lang="en-US" sz="2000" b="1" dirty="0">
                <a:latin typeface="Times New Roman" panose="02020603050405020304" pitchFamily="18" charset="0"/>
                <a:cs typeface="Times New Roman" panose="02020603050405020304" pitchFamily="18" charset="0"/>
              </a:rPr>
              <a:t>Step 1: Survey: </a:t>
            </a:r>
            <a:r>
              <a:rPr lang="en-US" sz="2000" dirty="0">
                <a:latin typeface="Times New Roman" panose="02020603050405020304" pitchFamily="18" charset="0"/>
                <a:cs typeface="Times New Roman" panose="02020603050405020304" pitchFamily="18" charset="0"/>
              </a:rPr>
              <a:t>Do not jump straight into reading the passage; glance through or survey the passage to 				identify the subject matter, the point of view, and the overall purpose of the passage. </a:t>
            </a:r>
          </a:p>
          <a:p>
            <a:pPr algn="just"/>
            <a:endParaRPr lang="en-US" sz="9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	- Step 2: Question: </a:t>
            </a:r>
            <a:r>
              <a:rPr lang="en-US" sz="2000" dirty="0">
                <a:latin typeface="Times New Roman" panose="02020603050405020304" pitchFamily="18" charset="0"/>
                <a:cs typeface="Times New Roman" panose="02020603050405020304" pitchFamily="18" charset="0"/>
              </a:rPr>
              <a:t>After surveying or glancing through the passage and you are interested, then come 				up with a couple of questions about the passage. E.g.</a:t>
            </a:r>
            <a:r>
              <a:rPr lang="en-US" sz="2000" i="1" dirty="0">
                <a:latin typeface="Times New Roman" panose="02020603050405020304" pitchFamily="18" charset="0"/>
                <a:cs typeface="Times New Roman" panose="02020603050405020304" pitchFamily="18" charset="0"/>
              </a:rPr>
              <a:t> What is this passage about? Why does 				this 	passage exist? What question is this passage trying to answer?</a:t>
            </a:r>
          </a:p>
          <a:p>
            <a:pPr algn="just"/>
            <a:endParaRPr lang="en-US" sz="900" dirty="0">
              <a:latin typeface="Times New Roman" panose="02020603050405020304" pitchFamily="18" charset="0"/>
              <a:cs typeface="Times New Roman" panose="02020603050405020304" pitchFamily="18" charset="0"/>
            </a:endParaRPr>
          </a:p>
          <a:p>
            <a:pPr lvl="0" algn="just"/>
            <a:r>
              <a:rPr lang="en-US" sz="2000" b="1" dirty="0">
                <a:latin typeface="Times New Roman" panose="02020603050405020304" pitchFamily="18" charset="0"/>
                <a:cs typeface="Times New Roman" panose="02020603050405020304" pitchFamily="18" charset="0"/>
              </a:rPr>
              <a:t>	- Step 3: Read (R1): </a:t>
            </a:r>
            <a:r>
              <a:rPr lang="en-US" sz="2000" dirty="0">
                <a:latin typeface="Times New Roman" panose="02020603050405020304" pitchFamily="18" charset="0"/>
                <a:cs typeface="Times New Roman" panose="02020603050405020304" pitchFamily="18" charset="0"/>
              </a:rPr>
              <a:t>Start reading the passage – </a:t>
            </a:r>
            <a:r>
              <a:rPr lang="en-US" sz="2000" b="1" dirty="0">
                <a:latin typeface="Times New Roman" panose="02020603050405020304" pitchFamily="18" charset="0"/>
                <a:cs typeface="Times New Roman" panose="02020603050405020304" pitchFamily="18" charset="0"/>
              </a:rPr>
              <a:t>actively</a:t>
            </a:r>
            <a:r>
              <a:rPr lang="en-US" sz="2000" dirty="0">
                <a:latin typeface="Times New Roman" panose="02020603050405020304" pitchFamily="18" charset="0"/>
                <a:cs typeface="Times New Roman" panose="02020603050405020304" pitchFamily="18" charset="0"/>
              </a:rPr>
              <a:t>. (e.g. Underline and/or circle claims; 					Underline and/or circle key words; Make quick notes in the margins of the passage, etc.)</a:t>
            </a:r>
          </a:p>
          <a:p>
            <a:pPr lvl="0" algn="just"/>
            <a:endParaRPr lang="en-US" sz="9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	- Step 4: Recite (R2): </a:t>
            </a:r>
            <a:r>
              <a:rPr lang="en-US" sz="2000" dirty="0">
                <a:latin typeface="Times New Roman" panose="02020603050405020304" pitchFamily="18" charset="0"/>
                <a:cs typeface="Times New Roman" panose="02020603050405020304" pitchFamily="18" charset="0"/>
              </a:rPr>
              <a:t>This is the most important part of effective </a:t>
            </a:r>
            <a:r>
              <a:rPr lang="en-US" sz="2000" b="1" dirty="0">
                <a:latin typeface="Times New Roman" panose="02020603050405020304" pitchFamily="18" charset="0"/>
                <a:cs typeface="Times New Roman" panose="02020603050405020304" pitchFamily="18" charset="0"/>
              </a:rPr>
              <a:t>Active Reading</a:t>
            </a:r>
            <a:r>
              <a:rPr lang="en-US" sz="2000" dirty="0">
                <a:latin typeface="Times New Roman" panose="02020603050405020304" pitchFamily="18" charset="0"/>
                <a:cs typeface="Times New Roman" panose="02020603050405020304" pitchFamily="18" charset="0"/>
              </a:rPr>
              <a:t>. The second "R" 				stands for Recite – </a:t>
            </a:r>
            <a:r>
              <a:rPr lang="en-US" sz="2000" b="1" dirty="0">
                <a:latin typeface="Times New Roman" panose="02020603050405020304" pitchFamily="18" charset="0"/>
                <a:cs typeface="Times New Roman" panose="02020603050405020304" pitchFamily="18" charset="0"/>
              </a:rPr>
              <a:t>in your own words</a:t>
            </a:r>
            <a:r>
              <a:rPr lang="en-US" sz="2000" dirty="0">
                <a:latin typeface="Times New Roman" panose="02020603050405020304" pitchFamily="18" charset="0"/>
                <a:cs typeface="Times New Roman" panose="02020603050405020304" pitchFamily="18" charset="0"/>
              </a:rPr>
              <a:t>.</a:t>
            </a:r>
          </a:p>
          <a:p>
            <a:pPr algn="just"/>
            <a:endParaRPr lang="en-US" sz="9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Step 5: Review (R3): </a:t>
            </a:r>
            <a:r>
              <a:rPr lang="en-US" sz="2000" dirty="0">
                <a:latin typeface="Times New Roman" panose="02020603050405020304" pitchFamily="18" charset="0"/>
                <a:cs typeface="Times New Roman" panose="02020603050405020304" pitchFamily="18" charset="0"/>
              </a:rPr>
              <a:t>Once you reach the end of the passage, say back to yourself what the point of 				the whole passage is - again, </a:t>
            </a:r>
            <a:r>
              <a:rPr lang="en-US" sz="2000" b="1" i="1" dirty="0">
                <a:latin typeface="Times New Roman" panose="02020603050405020304" pitchFamily="18" charset="0"/>
                <a:cs typeface="Times New Roman" panose="02020603050405020304" pitchFamily="18" charset="0"/>
              </a:rPr>
              <a:t>using your own words</a:t>
            </a:r>
            <a:r>
              <a:rPr lang="en-US" sz="2000" dirty="0">
                <a:latin typeface="Times New Roman" panose="02020603050405020304" pitchFamily="18" charset="0"/>
                <a:cs typeface="Times New Roman" panose="02020603050405020304" pitchFamily="18" charset="0"/>
              </a:rPr>
              <a:t>.</a:t>
            </a:r>
          </a:p>
          <a:p>
            <a:pPr algn="just"/>
            <a:r>
              <a:rPr lang="en-US" sz="2000" dirty="0">
                <a:latin typeface="Times New Roman" panose="02020603050405020304" pitchFamily="18" charset="0"/>
                <a:cs typeface="Times New Roman" panose="02020603050405020304" pitchFamily="18" charset="0"/>
              </a:rPr>
              <a:t>																		(www.khanacademy.org)</a:t>
            </a:r>
          </a:p>
          <a:p>
            <a:endParaRPr lang="en-US" dirty="0"/>
          </a:p>
          <a:p>
            <a:endParaRPr lang="en-US" dirty="0"/>
          </a:p>
          <a:p>
            <a:endParaRPr lang="en-US" dirty="0"/>
          </a:p>
          <a:p>
            <a:endParaRPr lang="en-US" dirty="0"/>
          </a:p>
        </p:txBody>
      </p:sp>
      <p:sp>
        <p:nvSpPr>
          <p:cNvPr id="2" name="Slide Number Placeholder 1"/>
          <p:cNvSpPr>
            <a:spLocks noGrp="1"/>
          </p:cNvSpPr>
          <p:nvPr>
            <p:ph type="sldNum" sz="quarter" idx="12"/>
          </p:nvPr>
        </p:nvSpPr>
        <p:spPr/>
        <p:txBody>
          <a:bodyPr/>
          <a:lstStyle/>
          <a:p>
            <a:fld id="{F4801FD5-11B4-DE43-ACA2-E85EEB9A6F9C}" type="slidenum">
              <a:rPr lang="en-US" smtClean="0"/>
              <a:t>15</a:t>
            </a:fld>
            <a:endParaRPr lang="en-US" dirty="0"/>
          </a:p>
        </p:txBody>
      </p:sp>
    </p:spTree>
    <p:extLst>
      <p:ext uri="{BB962C8B-B14F-4D97-AF65-F5344CB8AC3E}">
        <p14:creationId xmlns:p14="http://schemas.microsoft.com/office/powerpoint/2010/main" val="13009283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AA308CE6-9A3D-4A15-B240-67ED59062F4C}"/>
              </a:ext>
            </a:extLst>
          </p:cNvPr>
          <p:cNvSpPr txBox="1"/>
          <p:nvPr/>
        </p:nvSpPr>
        <p:spPr>
          <a:xfrm>
            <a:off x="633412" y="210995"/>
            <a:ext cx="11353800" cy="471283"/>
          </a:xfrm>
          <a:prstGeom prst="rect">
            <a:avLst/>
          </a:prstGeom>
        </p:spPr>
        <p:txBody>
          <a:bodyPr vert="horz" wrap="square" lIns="0" tIns="9525" rIns="0" bIns="0" rtlCol="0">
            <a:spAutoFit/>
          </a:bodyPr>
          <a:lstStyle/>
          <a:p>
            <a:pPr marL="9525" algn="ctr">
              <a:spcBef>
                <a:spcPts val="75"/>
              </a:spcBef>
            </a:pPr>
            <a:r>
              <a:rPr lang="en-US" sz="3000" b="1" spc="-4" dirty="0">
                <a:solidFill>
                  <a:srgbClr val="008000"/>
                </a:solidFill>
                <a:latin typeface="Gotham" panose="02000504050000020004" pitchFamily="2" charset="0"/>
                <a:cs typeface="Arial"/>
              </a:rPr>
              <a:t>STRATEGIES IN ANSWERING COMPREHENSION QUESTIONS</a:t>
            </a:r>
            <a:endParaRPr lang="en-US" sz="3000" dirty="0">
              <a:solidFill>
                <a:srgbClr val="008000"/>
              </a:solidFill>
              <a:latin typeface="Gotham" panose="02000504050000020004" pitchFamily="2" charset="0"/>
              <a:cs typeface="Arial"/>
            </a:endParaRPr>
          </a:p>
        </p:txBody>
      </p:sp>
      <p:sp>
        <p:nvSpPr>
          <p:cNvPr id="6" name="TextBox 5">
            <a:extLst>
              <a:ext uri="{FF2B5EF4-FFF2-40B4-BE49-F238E27FC236}">
                <a16:creationId xmlns:a16="http://schemas.microsoft.com/office/drawing/2014/main" id="{D687606E-2D98-4A1A-8A97-39D60D5C7512}"/>
              </a:ext>
            </a:extLst>
          </p:cNvPr>
          <p:cNvSpPr txBox="1"/>
          <p:nvPr/>
        </p:nvSpPr>
        <p:spPr>
          <a:xfrm>
            <a:off x="315623" y="890096"/>
            <a:ext cx="11266777" cy="4170372"/>
          </a:xfrm>
          <a:prstGeom prst="rect">
            <a:avLst/>
          </a:prstGeom>
          <a:noFill/>
        </p:spPr>
        <p:txBody>
          <a:bodyPr wrap="square">
            <a:spAutoFit/>
          </a:bodyPr>
          <a:lstStyle/>
          <a:p>
            <a:pPr marL="502920" indent="-457200" algn="just">
              <a:buFont typeface="Arial" panose="020B0604020202020204" pitchFamily="34" charset="0"/>
              <a:buChar char="•"/>
            </a:pPr>
            <a:r>
              <a:rPr lang="en-GB" sz="2000" dirty="0">
                <a:solidFill>
                  <a:srgbClr val="000000"/>
                </a:solidFill>
                <a:latin typeface="Times New Roman" panose="02020603050405020304" pitchFamily="18" charset="0"/>
                <a:cs typeface="Times New Roman" panose="02020603050405020304" pitchFamily="18" charset="0"/>
              </a:rPr>
              <a:t>Take note of what exactly a question requires that you do. </a:t>
            </a:r>
          </a:p>
          <a:p>
            <a:pPr marL="502920" indent="-457200" algn="just">
              <a:buFont typeface="Arial" panose="020B0604020202020204" pitchFamily="34" charset="0"/>
              <a:buChar char="•"/>
            </a:pPr>
            <a:endParaRPr lang="en-GB" sz="900" dirty="0">
              <a:solidFill>
                <a:srgbClr val="000000"/>
              </a:solidFill>
              <a:latin typeface="Times New Roman" panose="02020603050405020304" pitchFamily="18" charset="0"/>
              <a:cs typeface="Times New Roman" panose="02020603050405020304" pitchFamily="18" charset="0"/>
            </a:endParaRPr>
          </a:p>
          <a:p>
            <a:pPr marL="502920" indent="-457200" algn="just">
              <a:buFont typeface="Arial" panose="020B0604020202020204" pitchFamily="34" charset="0"/>
              <a:buChar char="•"/>
            </a:pPr>
            <a:r>
              <a:rPr lang="en-GB" sz="2000" dirty="0">
                <a:solidFill>
                  <a:srgbClr val="000000"/>
                </a:solidFill>
                <a:latin typeface="Times New Roman" panose="02020603050405020304" pitchFamily="18" charset="0"/>
                <a:cs typeface="Times New Roman" panose="02020603050405020304" pitchFamily="18" charset="0"/>
              </a:rPr>
              <a:t>Make sure that there is no grammatical/expression error in your answers. </a:t>
            </a:r>
          </a:p>
          <a:p>
            <a:pPr marL="502920" indent="-457200" algn="just">
              <a:buFont typeface="Arial" panose="020B0604020202020204" pitchFamily="34" charset="0"/>
              <a:buChar char="•"/>
            </a:pPr>
            <a:endParaRPr lang="en-GB" sz="900" dirty="0">
              <a:solidFill>
                <a:srgbClr val="000000"/>
              </a:solidFill>
              <a:latin typeface="Times New Roman" panose="02020603050405020304" pitchFamily="18" charset="0"/>
              <a:cs typeface="Times New Roman" panose="02020603050405020304" pitchFamily="18" charset="0"/>
            </a:endParaRPr>
          </a:p>
          <a:p>
            <a:pPr marL="502920" indent="-457200" algn="just">
              <a:buFont typeface="Arial" panose="020B0604020202020204" pitchFamily="34" charset="0"/>
              <a:buChar char="•"/>
            </a:pPr>
            <a:r>
              <a:rPr lang="en-GB" sz="2000" dirty="0">
                <a:solidFill>
                  <a:srgbClr val="000000"/>
                </a:solidFill>
                <a:latin typeface="Times New Roman" panose="02020603050405020304" pitchFamily="18" charset="0"/>
                <a:cs typeface="Times New Roman" panose="02020603050405020304" pitchFamily="18" charset="0"/>
              </a:rPr>
              <a:t>Avoid lifting a sentence that contains elements of the required answer from the passage. </a:t>
            </a:r>
          </a:p>
          <a:p>
            <a:pPr marL="502920" indent="-457200" algn="just">
              <a:buFont typeface="Arial" panose="020B0604020202020204" pitchFamily="34" charset="0"/>
              <a:buChar char="•"/>
            </a:pPr>
            <a:r>
              <a:rPr lang="en-US" sz="2000" dirty="0">
                <a:solidFill>
                  <a:srgbClr val="000000"/>
                </a:solidFill>
                <a:latin typeface="Times New Roman" panose="02020603050405020304" pitchFamily="18" charset="0"/>
                <a:cs typeface="Times New Roman" panose="02020603050405020304" pitchFamily="18" charset="0"/>
              </a:rPr>
              <a:t>Where another word/expression is expected to be given to replace a word/expression in the passage, consider all options that come to your mind critically to pick the one that fits in perfectly.</a:t>
            </a:r>
          </a:p>
          <a:p>
            <a:pPr marL="502920" indent="-457200" algn="just">
              <a:buFont typeface="Arial" panose="020B0604020202020204" pitchFamily="34" charset="0"/>
              <a:buChar char="•"/>
            </a:pPr>
            <a:endParaRPr lang="en-US" sz="900" dirty="0">
              <a:solidFill>
                <a:srgbClr val="000000"/>
              </a:solidFill>
              <a:latin typeface="Times New Roman" panose="02020603050405020304" pitchFamily="18" charset="0"/>
              <a:cs typeface="Times New Roman" panose="02020603050405020304" pitchFamily="18" charset="0"/>
            </a:endParaRPr>
          </a:p>
          <a:p>
            <a:pPr marL="502920" indent="-457200" algn="just">
              <a:buFont typeface="Arial" panose="020B0604020202020204" pitchFamily="34" charset="0"/>
              <a:buChar char="•"/>
            </a:pPr>
            <a:r>
              <a:rPr lang="en-US" sz="2000" dirty="0">
                <a:solidFill>
                  <a:srgbClr val="000000"/>
                </a:solidFill>
                <a:latin typeface="Times New Roman" panose="02020603050405020304" pitchFamily="18" charset="0"/>
                <a:cs typeface="Times New Roman" panose="02020603050405020304" pitchFamily="18" charset="0"/>
              </a:rPr>
              <a:t>Candidates’ knowledge of grammatical units is also tested in the comprehension exercises. This makes a demand on candidates’ ability to recognize the different word classes, phrases, and clause structures as well as their grammatical functions in contexts.</a:t>
            </a:r>
          </a:p>
          <a:p>
            <a:pPr marL="502920" indent="-457200" algn="just">
              <a:buFont typeface="Arial" panose="020B0604020202020204" pitchFamily="34" charset="0"/>
              <a:buChar char="•"/>
            </a:pPr>
            <a:endParaRPr lang="en-US" sz="900" dirty="0">
              <a:solidFill>
                <a:srgbClr val="000000"/>
              </a:solidFill>
              <a:latin typeface="Times New Roman" panose="02020603050405020304" pitchFamily="18" charset="0"/>
              <a:cs typeface="Times New Roman" panose="02020603050405020304" pitchFamily="18" charset="0"/>
            </a:endParaRPr>
          </a:p>
          <a:p>
            <a:pPr marL="502920" indent="-4572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good knowledge of the commonest figurative expressions like simile, metaphor, onomatopoeia, and idiomatic expressions is necessary for comprehension to take place.</a:t>
            </a:r>
          </a:p>
          <a:p>
            <a:pPr marL="502920" indent="-457200" algn="just">
              <a:buFont typeface="Arial" panose="020B0604020202020204" pitchFamily="34" charset="0"/>
              <a:buChar char="•"/>
            </a:pPr>
            <a:endParaRPr lang="en-US" sz="900" dirty="0">
              <a:latin typeface="Times New Roman" panose="02020603050405020304" pitchFamily="18" charset="0"/>
              <a:cs typeface="Times New Roman" panose="02020603050405020304" pitchFamily="18" charset="0"/>
            </a:endParaRPr>
          </a:p>
          <a:p>
            <a:pPr marL="502920" indent="-4572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Limit your answers to the information contained in or can be inferred from the passage before you.</a:t>
            </a:r>
            <a:endParaRPr lang="en-GB" sz="2000" dirty="0">
              <a:solidFill>
                <a:srgbClr val="000000"/>
              </a:solidFill>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F4801FD5-11B4-DE43-ACA2-E85EEB9A6F9C}" type="slidenum">
              <a:rPr lang="en-US" smtClean="0"/>
              <a:t>16</a:t>
            </a:fld>
            <a:endParaRPr lang="en-US" dirty="0"/>
          </a:p>
        </p:txBody>
      </p:sp>
    </p:spTree>
    <p:extLst>
      <p:ext uri="{BB962C8B-B14F-4D97-AF65-F5344CB8AC3E}">
        <p14:creationId xmlns:p14="http://schemas.microsoft.com/office/powerpoint/2010/main" val="681706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AA308CE6-9A3D-4A15-B240-67ED59062F4C}"/>
              </a:ext>
            </a:extLst>
          </p:cNvPr>
          <p:cNvSpPr txBox="1"/>
          <p:nvPr/>
        </p:nvSpPr>
        <p:spPr>
          <a:xfrm>
            <a:off x="633412" y="210995"/>
            <a:ext cx="11353800" cy="471283"/>
          </a:xfrm>
          <a:prstGeom prst="rect">
            <a:avLst/>
          </a:prstGeom>
        </p:spPr>
        <p:txBody>
          <a:bodyPr vert="horz" wrap="square" lIns="0" tIns="9525" rIns="0" bIns="0" rtlCol="0">
            <a:spAutoFit/>
          </a:bodyPr>
          <a:lstStyle/>
          <a:p>
            <a:pPr marL="9525" algn="ctr">
              <a:spcBef>
                <a:spcPts val="75"/>
              </a:spcBef>
            </a:pPr>
            <a:r>
              <a:rPr lang="en-US" sz="3000" b="1" spc="-4" dirty="0">
                <a:solidFill>
                  <a:srgbClr val="008000"/>
                </a:solidFill>
                <a:latin typeface="Gotham" panose="02000504050000020004" pitchFamily="2" charset="0"/>
                <a:cs typeface="Arial"/>
              </a:rPr>
              <a:t>PRACTICAL SESSION ON COMPREHENSION TEXTS</a:t>
            </a:r>
            <a:endParaRPr lang="en-US" sz="3000" dirty="0">
              <a:solidFill>
                <a:srgbClr val="008000"/>
              </a:solidFill>
              <a:latin typeface="Gotham" panose="02000504050000020004" pitchFamily="2" charset="0"/>
              <a:cs typeface="Arial"/>
            </a:endParaRPr>
          </a:p>
        </p:txBody>
      </p:sp>
      <p:sp>
        <p:nvSpPr>
          <p:cNvPr id="6" name="TextBox 5">
            <a:extLst>
              <a:ext uri="{FF2B5EF4-FFF2-40B4-BE49-F238E27FC236}">
                <a16:creationId xmlns:a16="http://schemas.microsoft.com/office/drawing/2014/main" id="{D687606E-2D98-4A1A-8A97-39D60D5C7512}"/>
              </a:ext>
            </a:extLst>
          </p:cNvPr>
          <p:cNvSpPr txBox="1"/>
          <p:nvPr/>
        </p:nvSpPr>
        <p:spPr>
          <a:xfrm>
            <a:off x="1423987" y="2611558"/>
            <a:ext cx="10158413" cy="954107"/>
          </a:xfrm>
          <a:prstGeom prst="rect">
            <a:avLst/>
          </a:prstGeom>
          <a:noFill/>
        </p:spPr>
        <p:txBody>
          <a:bodyPr wrap="square">
            <a:spAutoFit/>
          </a:bodyPr>
          <a:lstStyle/>
          <a:p>
            <a:pPr marL="45720" indent="0" algn="just">
              <a:buNone/>
            </a:pPr>
            <a:r>
              <a:rPr lang="en-GB" sz="2800" b="1" dirty="0">
                <a:solidFill>
                  <a:srgbClr val="000000"/>
                </a:solidFill>
                <a:latin typeface="Times New Roman" panose="02020603050405020304" pitchFamily="18" charset="0"/>
              </a:rPr>
              <a:t>Discussion of sample comprehension texts and how to answer comprehension questions</a:t>
            </a:r>
            <a:endParaRPr lang="en-GB" sz="2800" dirty="0">
              <a:solidFill>
                <a:srgbClr val="000000"/>
              </a:solidFill>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F4801FD5-11B4-DE43-ACA2-E85EEB9A6F9C}" type="slidenum">
              <a:rPr lang="en-US" smtClean="0"/>
              <a:t>17</a:t>
            </a:fld>
            <a:endParaRPr lang="en-US" dirty="0"/>
          </a:p>
        </p:txBody>
      </p:sp>
    </p:spTree>
    <p:extLst>
      <p:ext uri="{BB962C8B-B14F-4D97-AF65-F5344CB8AC3E}">
        <p14:creationId xmlns:p14="http://schemas.microsoft.com/office/powerpoint/2010/main" val="25073992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AA308CE6-9A3D-4A15-B240-67ED59062F4C}"/>
              </a:ext>
            </a:extLst>
          </p:cNvPr>
          <p:cNvSpPr txBox="1"/>
          <p:nvPr/>
        </p:nvSpPr>
        <p:spPr>
          <a:xfrm>
            <a:off x="628650" y="205240"/>
            <a:ext cx="10725150" cy="471283"/>
          </a:xfrm>
          <a:prstGeom prst="rect">
            <a:avLst/>
          </a:prstGeom>
        </p:spPr>
        <p:txBody>
          <a:bodyPr vert="horz" wrap="square" lIns="0" tIns="9525" rIns="0" bIns="0" rtlCol="0">
            <a:spAutoFit/>
          </a:bodyPr>
          <a:lstStyle/>
          <a:p>
            <a:pPr marL="9525">
              <a:spcBef>
                <a:spcPts val="75"/>
              </a:spcBef>
            </a:pPr>
            <a:r>
              <a:rPr lang="en-US" sz="3000" b="1" spc="-4" dirty="0">
                <a:solidFill>
                  <a:srgbClr val="008000"/>
                </a:solidFill>
                <a:latin typeface="Gotham" panose="02000504050000020004" pitchFamily="2" charset="0"/>
                <a:cs typeface="Arial"/>
              </a:rPr>
              <a:t>SUMMARY WRITING </a:t>
            </a:r>
            <a:endParaRPr lang="en-US" sz="3000" dirty="0">
              <a:solidFill>
                <a:srgbClr val="008000"/>
              </a:solidFill>
              <a:latin typeface="Gotham" panose="02000504050000020004" pitchFamily="2" charset="0"/>
              <a:cs typeface="Arial"/>
            </a:endParaRPr>
          </a:p>
        </p:txBody>
      </p:sp>
      <p:sp>
        <p:nvSpPr>
          <p:cNvPr id="6" name="TextBox 5">
            <a:extLst>
              <a:ext uri="{FF2B5EF4-FFF2-40B4-BE49-F238E27FC236}">
                <a16:creationId xmlns:a16="http://schemas.microsoft.com/office/drawing/2014/main" id="{D687606E-2D98-4A1A-8A97-39D60D5C7512}"/>
              </a:ext>
            </a:extLst>
          </p:cNvPr>
          <p:cNvSpPr txBox="1"/>
          <p:nvPr/>
        </p:nvSpPr>
        <p:spPr>
          <a:xfrm>
            <a:off x="531668" y="1101161"/>
            <a:ext cx="11203132" cy="2967159"/>
          </a:xfrm>
          <a:prstGeom prst="rect">
            <a:avLst/>
          </a:prstGeom>
          <a:noFill/>
        </p:spPr>
        <p:txBody>
          <a:bodyPr wrap="square">
            <a:spAutoFit/>
          </a:bodyPr>
          <a:lstStyle/>
          <a:p>
            <a:pPr marL="295275" marR="395764" indent="-285750">
              <a:lnSpc>
                <a:spcPct val="100800"/>
              </a:lnSpc>
              <a:spcBef>
                <a:spcPts val="56"/>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summary is a shortened form of a text. </a:t>
            </a:r>
          </a:p>
          <a:p>
            <a:pPr marL="295275" marR="395764" indent="-285750">
              <a:lnSpc>
                <a:spcPct val="100800"/>
              </a:lnSpc>
              <a:spcBef>
                <a:spcPts val="56"/>
              </a:spcBef>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marL="295275" marR="395764" indent="-285750">
              <a:lnSpc>
                <a:spcPct val="100800"/>
              </a:lnSpc>
              <a:spcBef>
                <a:spcPts val="56"/>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Writing a summary involves writing someone else’s piece of work or writing in your own words as much as possible and presenting the original work very briefly. </a:t>
            </a:r>
          </a:p>
          <a:p>
            <a:pPr marL="295275" marR="395764" indent="-285750">
              <a:lnSpc>
                <a:spcPct val="100800"/>
              </a:lnSpc>
              <a:spcBef>
                <a:spcPts val="56"/>
              </a:spcBef>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marL="295275" marR="395764" indent="-285750">
              <a:lnSpc>
                <a:spcPct val="100800"/>
              </a:lnSpc>
              <a:spcBef>
                <a:spcPts val="56"/>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involves the attempt to reduce a whole text or paragraph to about a third of its length.</a:t>
            </a:r>
          </a:p>
          <a:p>
            <a:pPr marL="295275" marR="395764" indent="-285750">
              <a:lnSpc>
                <a:spcPct val="100800"/>
              </a:lnSpc>
              <a:spcBef>
                <a:spcPts val="56"/>
              </a:spcBef>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pPr marL="295275" marR="395764" indent="-285750">
              <a:lnSpc>
                <a:spcPct val="100800"/>
              </a:lnSpc>
              <a:spcBef>
                <a:spcPts val="56"/>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also involves a brief statement of the main points of a piece of writing. </a:t>
            </a:r>
          </a:p>
        </p:txBody>
      </p:sp>
      <p:sp>
        <p:nvSpPr>
          <p:cNvPr id="2" name="Slide Number Placeholder 1"/>
          <p:cNvSpPr>
            <a:spLocks noGrp="1"/>
          </p:cNvSpPr>
          <p:nvPr>
            <p:ph type="sldNum" sz="quarter" idx="12"/>
          </p:nvPr>
        </p:nvSpPr>
        <p:spPr/>
        <p:txBody>
          <a:bodyPr/>
          <a:lstStyle/>
          <a:p>
            <a:fld id="{F4801FD5-11B4-DE43-ACA2-E85EEB9A6F9C}" type="slidenum">
              <a:rPr lang="en-US" smtClean="0"/>
              <a:t>18</a:t>
            </a:fld>
            <a:endParaRPr lang="en-US" dirty="0"/>
          </a:p>
        </p:txBody>
      </p:sp>
    </p:spTree>
    <p:extLst>
      <p:ext uri="{BB962C8B-B14F-4D97-AF65-F5344CB8AC3E}">
        <p14:creationId xmlns:p14="http://schemas.microsoft.com/office/powerpoint/2010/main" val="7024929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AA308CE6-9A3D-4A15-B240-67ED59062F4C}"/>
              </a:ext>
            </a:extLst>
          </p:cNvPr>
          <p:cNvSpPr txBox="1"/>
          <p:nvPr/>
        </p:nvSpPr>
        <p:spPr>
          <a:xfrm>
            <a:off x="628650" y="205240"/>
            <a:ext cx="10725150" cy="471283"/>
          </a:xfrm>
          <a:prstGeom prst="rect">
            <a:avLst/>
          </a:prstGeom>
        </p:spPr>
        <p:txBody>
          <a:bodyPr vert="horz" wrap="square" lIns="0" tIns="9525" rIns="0" bIns="0" rtlCol="0">
            <a:spAutoFit/>
          </a:bodyPr>
          <a:lstStyle/>
          <a:p>
            <a:pPr marL="9525">
              <a:spcBef>
                <a:spcPts val="75"/>
              </a:spcBef>
            </a:pPr>
            <a:r>
              <a:rPr lang="en-US" sz="3000" b="1" spc="-4" dirty="0">
                <a:solidFill>
                  <a:srgbClr val="008000"/>
                </a:solidFill>
                <a:latin typeface="Gotham" panose="02000504050000020004" pitchFamily="2" charset="0"/>
                <a:cs typeface="Arial"/>
              </a:rPr>
              <a:t>KEY CHARACTERISTICS OF A SUMMARY </a:t>
            </a:r>
            <a:endParaRPr lang="en-US" sz="3000" dirty="0">
              <a:solidFill>
                <a:srgbClr val="008000"/>
              </a:solidFill>
              <a:latin typeface="Gotham" panose="02000504050000020004" pitchFamily="2" charset="0"/>
              <a:cs typeface="Arial"/>
            </a:endParaRPr>
          </a:p>
        </p:txBody>
      </p:sp>
      <p:sp>
        <p:nvSpPr>
          <p:cNvPr id="6" name="TextBox 5">
            <a:extLst>
              <a:ext uri="{FF2B5EF4-FFF2-40B4-BE49-F238E27FC236}">
                <a16:creationId xmlns:a16="http://schemas.microsoft.com/office/drawing/2014/main" id="{D687606E-2D98-4A1A-8A97-39D60D5C7512}"/>
              </a:ext>
            </a:extLst>
          </p:cNvPr>
          <p:cNvSpPr txBox="1"/>
          <p:nvPr/>
        </p:nvSpPr>
        <p:spPr>
          <a:xfrm>
            <a:off x="628650" y="756549"/>
            <a:ext cx="11203132" cy="3899786"/>
          </a:xfrm>
          <a:prstGeom prst="rect">
            <a:avLst/>
          </a:prstGeom>
          <a:noFill/>
        </p:spPr>
        <p:txBody>
          <a:bodyPr wrap="square">
            <a:spAutoFit/>
          </a:bodyPr>
          <a:lstStyle/>
          <a:p>
            <a:pPr marL="295275" marR="395764" indent="-285750">
              <a:lnSpc>
                <a:spcPct val="100800"/>
              </a:lnSpc>
              <a:spcBef>
                <a:spcPts val="56"/>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summary re-states. Thus, when writing a summary it must restate what the original writer has said and not comments or judgements on the piece of writing.</a:t>
            </a:r>
          </a:p>
          <a:p>
            <a:pPr marL="9525" marR="395764">
              <a:lnSpc>
                <a:spcPct val="100800"/>
              </a:lnSpc>
              <a:spcBef>
                <a:spcPts val="56"/>
              </a:spcBef>
            </a:pPr>
            <a:r>
              <a:rPr lang="en-US" sz="2400" dirty="0">
                <a:latin typeface="Times New Roman" panose="02020603050405020304" pitchFamily="18" charset="0"/>
                <a:cs typeface="Times New Roman" panose="02020603050405020304" pitchFamily="18" charset="0"/>
              </a:rPr>
              <a:t> </a:t>
            </a:r>
          </a:p>
          <a:p>
            <a:pPr marL="295275" marR="395764" indent="-285750">
              <a:lnSpc>
                <a:spcPct val="100800"/>
              </a:lnSpc>
              <a:spcBef>
                <a:spcPts val="56"/>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summary must be brief.</a:t>
            </a:r>
          </a:p>
          <a:p>
            <a:pPr marL="9525" marR="395764">
              <a:lnSpc>
                <a:spcPct val="100800"/>
              </a:lnSpc>
              <a:spcBef>
                <a:spcPts val="56"/>
              </a:spcBef>
            </a:pPr>
            <a:endParaRPr lang="en-US" sz="2400" dirty="0">
              <a:latin typeface="Times New Roman" panose="02020603050405020304" pitchFamily="18" charset="0"/>
              <a:cs typeface="Times New Roman" panose="02020603050405020304" pitchFamily="18" charset="0"/>
            </a:endParaRPr>
          </a:p>
          <a:p>
            <a:pPr marL="295275" marR="395764" indent="-285750">
              <a:lnSpc>
                <a:spcPct val="100800"/>
              </a:lnSpc>
              <a:spcBef>
                <a:spcPts val="56"/>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must focus on the essential points only. Descriptive details and examples are not included in a summary. When writing a summary, it is important to distinguish between the main points and the illustrative details. </a:t>
            </a:r>
          </a:p>
          <a:p>
            <a:pPr marL="9525" marR="395764">
              <a:lnSpc>
                <a:spcPct val="100800"/>
              </a:lnSpc>
              <a:spcBef>
                <a:spcPts val="56"/>
              </a:spcBef>
            </a:pPr>
            <a:endParaRPr lang="en-US" sz="2400" dirty="0">
              <a:latin typeface="Times New Roman" panose="02020603050405020304" pitchFamily="18" charset="0"/>
              <a:cs typeface="Times New Roman" panose="02020603050405020304" pitchFamily="18" charset="0"/>
            </a:endParaRPr>
          </a:p>
          <a:p>
            <a:pPr marL="295275" marR="395764" indent="-285750">
              <a:lnSpc>
                <a:spcPct val="100800"/>
              </a:lnSpc>
              <a:spcBef>
                <a:spcPts val="56"/>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must be in your own words as much as possible. </a:t>
            </a:r>
          </a:p>
        </p:txBody>
      </p:sp>
      <p:sp>
        <p:nvSpPr>
          <p:cNvPr id="2" name="Slide Number Placeholder 1"/>
          <p:cNvSpPr>
            <a:spLocks noGrp="1"/>
          </p:cNvSpPr>
          <p:nvPr>
            <p:ph type="sldNum" sz="quarter" idx="12"/>
          </p:nvPr>
        </p:nvSpPr>
        <p:spPr/>
        <p:txBody>
          <a:bodyPr/>
          <a:lstStyle/>
          <a:p>
            <a:fld id="{F4801FD5-11B4-DE43-ACA2-E85EEB9A6F9C}" type="slidenum">
              <a:rPr lang="en-US" smtClean="0"/>
              <a:t>19</a:t>
            </a:fld>
            <a:endParaRPr lang="en-US" dirty="0"/>
          </a:p>
        </p:txBody>
      </p:sp>
    </p:spTree>
    <p:extLst>
      <p:ext uri="{BB962C8B-B14F-4D97-AF65-F5344CB8AC3E}">
        <p14:creationId xmlns:p14="http://schemas.microsoft.com/office/powerpoint/2010/main" val="42453364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AA308CE6-9A3D-4A15-B240-67ED59062F4C}"/>
              </a:ext>
            </a:extLst>
          </p:cNvPr>
          <p:cNvSpPr txBox="1"/>
          <p:nvPr/>
        </p:nvSpPr>
        <p:spPr>
          <a:xfrm>
            <a:off x="628650" y="205240"/>
            <a:ext cx="10725150" cy="471283"/>
          </a:xfrm>
          <a:prstGeom prst="rect">
            <a:avLst/>
          </a:prstGeom>
        </p:spPr>
        <p:txBody>
          <a:bodyPr vert="horz" wrap="square" lIns="0" tIns="9525" rIns="0" bIns="0" rtlCol="0">
            <a:spAutoFit/>
          </a:bodyPr>
          <a:lstStyle/>
          <a:p>
            <a:pPr marL="9525">
              <a:spcBef>
                <a:spcPts val="75"/>
              </a:spcBef>
            </a:pPr>
            <a:r>
              <a:rPr lang="en-US" sz="3000" b="1" spc="-4" dirty="0">
                <a:solidFill>
                  <a:srgbClr val="008000"/>
                </a:solidFill>
                <a:latin typeface="Gotham" panose="02000504050000020004" pitchFamily="2" charset="0"/>
                <a:cs typeface="Arial"/>
              </a:rPr>
              <a:t>GUIDELINES IN WRITING A GOOD SUMMARY </a:t>
            </a:r>
            <a:endParaRPr lang="en-US" sz="3000" dirty="0">
              <a:solidFill>
                <a:srgbClr val="008000"/>
              </a:solidFill>
              <a:latin typeface="Gotham" panose="02000504050000020004" pitchFamily="2" charset="0"/>
              <a:cs typeface="Arial"/>
            </a:endParaRPr>
          </a:p>
        </p:txBody>
      </p:sp>
      <p:sp>
        <p:nvSpPr>
          <p:cNvPr id="6" name="TextBox 5">
            <a:extLst>
              <a:ext uri="{FF2B5EF4-FFF2-40B4-BE49-F238E27FC236}">
                <a16:creationId xmlns:a16="http://schemas.microsoft.com/office/drawing/2014/main" id="{D687606E-2D98-4A1A-8A97-39D60D5C7512}"/>
              </a:ext>
            </a:extLst>
          </p:cNvPr>
          <p:cNvSpPr txBox="1"/>
          <p:nvPr/>
        </p:nvSpPr>
        <p:spPr>
          <a:xfrm>
            <a:off x="628650" y="1019786"/>
            <a:ext cx="11203132" cy="2780633"/>
          </a:xfrm>
          <a:prstGeom prst="rect">
            <a:avLst/>
          </a:prstGeom>
          <a:noFill/>
        </p:spPr>
        <p:txBody>
          <a:bodyPr wrap="square">
            <a:spAutoFit/>
          </a:bodyPr>
          <a:lstStyle/>
          <a:p>
            <a:pPr marL="9525" marR="395764">
              <a:lnSpc>
                <a:spcPct val="100800"/>
              </a:lnSpc>
              <a:spcBef>
                <a:spcPts val="56"/>
              </a:spcBef>
            </a:pPr>
            <a:r>
              <a:rPr lang="en-US" sz="2400" dirty="0">
                <a:latin typeface="Times New Roman" panose="02020603050405020304" pitchFamily="18" charset="0"/>
                <a:cs typeface="Times New Roman" panose="02020603050405020304" pitchFamily="18" charset="0"/>
              </a:rPr>
              <a:t>In order to write a good summary, it is important to take note of the following:</a:t>
            </a:r>
          </a:p>
          <a:p>
            <a:pPr marL="9525" marR="395764">
              <a:lnSpc>
                <a:spcPct val="100800"/>
              </a:lnSpc>
              <a:spcBef>
                <a:spcPts val="56"/>
              </a:spcBef>
            </a:pPr>
            <a:r>
              <a:rPr lang="en-US" sz="2400" dirty="0">
                <a:latin typeface="Times New Roman" panose="02020603050405020304" pitchFamily="18" charset="0"/>
                <a:cs typeface="Times New Roman" panose="02020603050405020304" pitchFamily="18" charset="0"/>
              </a:rPr>
              <a:t> </a:t>
            </a:r>
          </a:p>
          <a:p>
            <a:pPr marL="352425" marR="395764" indent="-342900">
              <a:lnSpc>
                <a:spcPct val="100800"/>
              </a:lnSpc>
              <a:spcBef>
                <a:spcPts val="56"/>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main idea of each paragraph in the text</a:t>
            </a:r>
          </a:p>
          <a:p>
            <a:pPr marL="352425" marR="395764" indent="-342900">
              <a:lnSpc>
                <a:spcPct val="100800"/>
              </a:lnSpc>
              <a:spcBef>
                <a:spcPts val="56"/>
              </a:spcBef>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52425" marR="395764" indent="-342900">
              <a:lnSpc>
                <a:spcPct val="100800"/>
              </a:lnSpc>
              <a:spcBef>
                <a:spcPts val="56"/>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supporting ideas</a:t>
            </a:r>
          </a:p>
          <a:p>
            <a:pPr marL="352425" marR="395764" indent="-342900">
              <a:lnSpc>
                <a:spcPct val="100800"/>
              </a:lnSpc>
              <a:spcBef>
                <a:spcPts val="56"/>
              </a:spcBef>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52425" marR="395764" indent="-342900">
              <a:lnSpc>
                <a:spcPct val="100800"/>
              </a:lnSpc>
              <a:spcBef>
                <a:spcPts val="56"/>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Transitional markers/sentence modifiers </a:t>
            </a:r>
          </a:p>
        </p:txBody>
      </p:sp>
      <p:sp>
        <p:nvSpPr>
          <p:cNvPr id="2" name="Slide Number Placeholder 1"/>
          <p:cNvSpPr>
            <a:spLocks noGrp="1"/>
          </p:cNvSpPr>
          <p:nvPr>
            <p:ph type="sldNum" sz="quarter" idx="12"/>
          </p:nvPr>
        </p:nvSpPr>
        <p:spPr/>
        <p:txBody>
          <a:bodyPr/>
          <a:lstStyle/>
          <a:p>
            <a:fld id="{F4801FD5-11B4-DE43-ACA2-E85EEB9A6F9C}" type="slidenum">
              <a:rPr lang="en-US" smtClean="0"/>
              <a:t>20</a:t>
            </a:fld>
            <a:endParaRPr lang="en-US" dirty="0"/>
          </a:p>
        </p:txBody>
      </p:sp>
    </p:spTree>
    <p:extLst>
      <p:ext uri="{BB962C8B-B14F-4D97-AF65-F5344CB8AC3E}">
        <p14:creationId xmlns:p14="http://schemas.microsoft.com/office/powerpoint/2010/main" val="23606391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AA308CE6-9A3D-4A15-B240-67ED59062F4C}"/>
              </a:ext>
            </a:extLst>
          </p:cNvPr>
          <p:cNvSpPr txBox="1"/>
          <p:nvPr/>
        </p:nvSpPr>
        <p:spPr>
          <a:xfrm>
            <a:off x="628650" y="205240"/>
            <a:ext cx="10725150" cy="471283"/>
          </a:xfrm>
          <a:prstGeom prst="rect">
            <a:avLst/>
          </a:prstGeom>
        </p:spPr>
        <p:txBody>
          <a:bodyPr vert="horz" wrap="square" lIns="0" tIns="9525" rIns="0" bIns="0" rtlCol="0">
            <a:spAutoFit/>
          </a:bodyPr>
          <a:lstStyle/>
          <a:p>
            <a:pPr marL="9525">
              <a:spcBef>
                <a:spcPts val="75"/>
              </a:spcBef>
            </a:pPr>
            <a:r>
              <a:rPr lang="en-US" sz="3000" b="1" spc="-4" dirty="0">
                <a:solidFill>
                  <a:srgbClr val="008000"/>
                </a:solidFill>
                <a:latin typeface="Gotham" panose="02000504050000020004" pitchFamily="2" charset="0"/>
                <a:cs typeface="Arial"/>
              </a:rPr>
              <a:t>GUIDELINES IN WRITING A GOOD SUMMARY       </a:t>
            </a:r>
            <a:r>
              <a:rPr lang="en-US" sz="3000" b="1" spc="-4" dirty="0" err="1">
                <a:solidFill>
                  <a:srgbClr val="008000"/>
                </a:solidFill>
                <a:latin typeface="Gotham" panose="02000504050000020004" pitchFamily="2" charset="0"/>
                <a:cs typeface="Arial"/>
              </a:rPr>
              <a:t>con’t</a:t>
            </a:r>
            <a:endParaRPr lang="en-US" sz="3000" dirty="0">
              <a:solidFill>
                <a:srgbClr val="008000"/>
              </a:solidFill>
              <a:latin typeface="Gotham" panose="02000504050000020004" pitchFamily="2" charset="0"/>
              <a:cs typeface="Arial"/>
            </a:endParaRPr>
          </a:p>
        </p:txBody>
      </p:sp>
      <p:sp>
        <p:nvSpPr>
          <p:cNvPr id="6" name="TextBox 5">
            <a:extLst>
              <a:ext uri="{FF2B5EF4-FFF2-40B4-BE49-F238E27FC236}">
                <a16:creationId xmlns:a16="http://schemas.microsoft.com/office/drawing/2014/main" id="{D687606E-2D98-4A1A-8A97-39D60D5C7512}"/>
              </a:ext>
            </a:extLst>
          </p:cNvPr>
          <p:cNvSpPr txBox="1"/>
          <p:nvPr/>
        </p:nvSpPr>
        <p:spPr>
          <a:xfrm>
            <a:off x="628650" y="1019786"/>
            <a:ext cx="11203132" cy="2700226"/>
          </a:xfrm>
          <a:prstGeom prst="rect">
            <a:avLst/>
          </a:prstGeom>
          <a:noFill/>
        </p:spPr>
        <p:txBody>
          <a:bodyPr wrap="square">
            <a:spAutoFit/>
          </a:bodyPr>
          <a:lstStyle/>
          <a:p>
            <a:pPr marL="9525" marR="395764">
              <a:lnSpc>
                <a:spcPct val="100800"/>
              </a:lnSpc>
              <a:spcBef>
                <a:spcPts val="56"/>
              </a:spcBef>
            </a:pPr>
            <a:r>
              <a:rPr lang="en-US" sz="2400" dirty="0">
                <a:latin typeface="Times New Roman" panose="02020603050405020304" pitchFamily="18" charset="0"/>
                <a:cs typeface="Times New Roman" panose="02020603050405020304" pitchFamily="18" charset="0"/>
              </a:rPr>
              <a:t>When writing the summary there are three main requirements:</a:t>
            </a:r>
          </a:p>
          <a:p>
            <a:pPr marL="9525" marR="395764">
              <a:lnSpc>
                <a:spcPct val="100800"/>
              </a:lnSpc>
              <a:spcBef>
                <a:spcPts val="56"/>
              </a:spcBef>
            </a:pPr>
            <a:endParaRPr lang="en-US" sz="2400" dirty="0">
              <a:latin typeface="Times New Roman" panose="02020603050405020304" pitchFamily="18" charset="0"/>
              <a:cs typeface="Times New Roman" panose="02020603050405020304" pitchFamily="18" charset="0"/>
            </a:endParaRPr>
          </a:p>
          <a:p>
            <a:pPr marL="466725" marR="395764" indent="-457200">
              <a:lnSpc>
                <a:spcPct val="100800"/>
              </a:lnSpc>
              <a:spcBef>
                <a:spcPts val="56"/>
              </a:spcBef>
              <a:buAutoNum type="arabicPeriod"/>
            </a:pPr>
            <a:r>
              <a:rPr lang="en-US" sz="2400" dirty="0">
                <a:latin typeface="Times New Roman" panose="02020603050405020304" pitchFamily="18" charset="0"/>
                <a:cs typeface="Times New Roman" panose="02020603050405020304" pitchFamily="18" charset="0"/>
              </a:rPr>
              <a:t>The summary should cover the original as a whole.</a:t>
            </a:r>
          </a:p>
          <a:p>
            <a:pPr marL="466725" marR="395764" indent="-457200">
              <a:lnSpc>
                <a:spcPct val="100800"/>
              </a:lnSpc>
              <a:spcBef>
                <a:spcPts val="56"/>
              </a:spcBef>
              <a:buAutoNum type="arabicPeriod"/>
            </a:pPr>
            <a:endParaRPr lang="en-US" sz="900" dirty="0">
              <a:latin typeface="Times New Roman" panose="02020603050405020304" pitchFamily="18" charset="0"/>
              <a:cs typeface="Times New Roman" panose="02020603050405020304" pitchFamily="18" charset="0"/>
            </a:endParaRPr>
          </a:p>
          <a:p>
            <a:pPr marL="9525" marR="395764">
              <a:lnSpc>
                <a:spcPct val="100800"/>
              </a:lnSpc>
              <a:spcBef>
                <a:spcPts val="56"/>
              </a:spcBef>
            </a:pPr>
            <a:r>
              <a:rPr lang="en-US" sz="2400" dirty="0">
                <a:latin typeface="Times New Roman" panose="02020603050405020304" pitchFamily="18" charset="0"/>
                <a:cs typeface="Times New Roman" panose="02020603050405020304" pitchFamily="18" charset="0"/>
              </a:rPr>
              <a:t>2. The material should be presented in a neutral fashion.</a:t>
            </a:r>
          </a:p>
          <a:p>
            <a:pPr marL="9525" marR="395764">
              <a:lnSpc>
                <a:spcPct val="100800"/>
              </a:lnSpc>
              <a:spcBef>
                <a:spcPts val="56"/>
              </a:spcBef>
            </a:pPr>
            <a:endParaRPr lang="en-US" sz="900" dirty="0">
              <a:latin typeface="Times New Roman" panose="02020603050405020304" pitchFamily="18" charset="0"/>
              <a:cs typeface="Times New Roman" panose="02020603050405020304" pitchFamily="18" charset="0"/>
            </a:endParaRPr>
          </a:p>
          <a:p>
            <a:pPr marL="9525" marR="395764">
              <a:lnSpc>
                <a:spcPct val="100800"/>
              </a:lnSpc>
              <a:spcBef>
                <a:spcPts val="56"/>
              </a:spcBef>
            </a:pPr>
            <a:r>
              <a:rPr lang="en-US" sz="2400" dirty="0">
                <a:latin typeface="Times New Roman" panose="02020603050405020304" pitchFamily="18" charset="0"/>
                <a:cs typeface="Times New Roman" panose="02020603050405020304" pitchFamily="18" charset="0"/>
              </a:rPr>
              <a:t>3. The summary should be a condensed version of the material, presented in your own</a:t>
            </a:r>
          </a:p>
          <a:p>
            <a:pPr marL="9525" marR="395764">
              <a:lnSpc>
                <a:spcPct val="100800"/>
              </a:lnSpc>
              <a:spcBef>
                <a:spcPts val="56"/>
              </a:spcBef>
            </a:pPr>
            <a:r>
              <a:rPr lang="en-US" sz="2400" dirty="0">
                <a:latin typeface="Times New Roman" panose="02020603050405020304" pitchFamily="18" charset="0"/>
                <a:cs typeface="Times New Roman" panose="02020603050405020304" pitchFamily="18" charset="0"/>
              </a:rPr>
              <a:t>words.</a:t>
            </a:r>
          </a:p>
        </p:txBody>
      </p:sp>
      <p:sp>
        <p:nvSpPr>
          <p:cNvPr id="2" name="Slide Number Placeholder 1"/>
          <p:cNvSpPr>
            <a:spLocks noGrp="1"/>
          </p:cNvSpPr>
          <p:nvPr>
            <p:ph type="sldNum" sz="quarter" idx="12"/>
          </p:nvPr>
        </p:nvSpPr>
        <p:spPr/>
        <p:txBody>
          <a:bodyPr/>
          <a:lstStyle/>
          <a:p>
            <a:fld id="{F4801FD5-11B4-DE43-ACA2-E85EEB9A6F9C}" type="slidenum">
              <a:rPr lang="en-US" smtClean="0"/>
              <a:t>21</a:t>
            </a:fld>
            <a:endParaRPr lang="en-US" dirty="0"/>
          </a:p>
        </p:txBody>
      </p:sp>
    </p:spTree>
    <p:extLst>
      <p:ext uri="{BB962C8B-B14F-4D97-AF65-F5344CB8AC3E}">
        <p14:creationId xmlns:p14="http://schemas.microsoft.com/office/powerpoint/2010/main" val="7457098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AA308CE6-9A3D-4A15-B240-67ED59062F4C}"/>
              </a:ext>
            </a:extLst>
          </p:cNvPr>
          <p:cNvSpPr txBox="1"/>
          <p:nvPr/>
        </p:nvSpPr>
        <p:spPr>
          <a:xfrm>
            <a:off x="628650" y="205240"/>
            <a:ext cx="10725150" cy="471283"/>
          </a:xfrm>
          <a:prstGeom prst="rect">
            <a:avLst/>
          </a:prstGeom>
        </p:spPr>
        <p:txBody>
          <a:bodyPr vert="horz" wrap="square" lIns="0" tIns="9525" rIns="0" bIns="0" rtlCol="0">
            <a:spAutoFit/>
          </a:bodyPr>
          <a:lstStyle/>
          <a:p>
            <a:pPr marL="9525">
              <a:spcBef>
                <a:spcPts val="75"/>
              </a:spcBef>
            </a:pPr>
            <a:r>
              <a:rPr lang="en-US" sz="3000" b="1" spc="-4" dirty="0">
                <a:solidFill>
                  <a:srgbClr val="008000"/>
                </a:solidFill>
                <a:latin typeface="Gotham" panose="02000504050000020004" pitchFamily="2" charset="0"/>
                <a:cs typeface="Arial"/>
              </a:rPr>
              <a:t>ANSWERING SUMMARY QUESTIONS  </a:t>
            </a:r>
            <a:endParaRPr lang="en-US" sz="3000" dirty="0">
              <a:solidFill>
                <a:srgbClr val="008000"/>
              </a:solidFill>
              <a:latin typeface="Gotham" panose="02000504050000020004" pitchFamily="2" charset="0"/>
              <a:cs typeface="Arial"/>
            </a:endParaRPr>
          </a:p>
        </p:txBody>
      </p:sp>
      <p:sp>
        <p:nvSpPr>
          <p:cNvPr id="6" name="TextBox 5">
            <a:extLst>
              <a:ext uri="{FF2B5EF4-FFF2-40B4-BE49-F238E27FC236}">
                <a16:creationId xmlns:a16="http://schemas.microsoft.com/office/drawing/2014/main" id="{D687606E-2D98-4A1A-8A97-39D60D5C7512}"/>
              </a:ext>
            </a:extLst>
          </p:cNvPr>
          <p:cNvSpPr txBox="1"/>
          <p:nvPr/>
        </p:nvSpPr>
        <p:spPr>
          <a:xfrm>
            <a:off x="318655" y="756549"/>
            <a:ext cx="11263745" cy="5194242"/>
          </a:xfrm>
          <a:prstGeom prst="rect">
            <a:avLst/>
          </a:prstGeom>
          <a:noFill/>
        </p:spPr>
        <p:txBody>
          <a:bodyPr wrap="square">
            <a:spAutoFit/>
          </a:bodyPr>
          <a:lstStyle/>
          <a:p>
            <a:pPr marL="9525" marR="395764">
              <a:lnSpc>
                <a:spcPct val="100800"/>
              </a:lnSpc>
              <a:spcBef>
                <a:spcPts val="56"/>
              </a:spcBef>
            </a:pPr>
            <a:r>
              <a:rPr lang="en-US" sz="2000" dirty="0">
                <a:latin typeface="Times New Roman" panose="02020603050405020304" pitchFamily="18" charset="0"/>
                <a:cs typeface="Times New Roman" panose="02020603050405020304" pitchFamily="18" charset="0"/>
              </a:rPr>
              <a:t>For instance: </a:t>
            </a:r>
            <a:r>
              <a:rPr lang="en-US" sz="2000" i="1" dirty="0">
                <a:latin typeface="Times New Roman" panose="02020603050405020304" pitchFamily="18" charset="0"/>
                <a:cs typeface="Times New Roman" panose="02020603050405020304" pitchFamily="18" charset="0"/>
              </a:rPr>
              <a:t>Read the passage below carefully and then answer in your own words, as far as possible, the questions on it. </a:t>
            </a:r>
            <a:r>
              <a:rPr lang="en-US" sz="2000" dirty="0">
                <a:latin typeface="Times New Roman" panose="02020603050405020304" pitchFamily="18" charset="0"/>
                <a:cs typeface="Times New Roman" panose="02020603050405020304" pitchFamily="18" charset="0"/>
              </a:rPr>
              <a:t>In such questions, what you need to do is:</a:t>
            </a:r>
          </a:p>
          <a:p>
            <a:pPr marL="9525" marR="395764">
              <a:lnSpc>
                <a:spcPct val="100800"/>
              </a:lnSpc>
              <a:spcBef>
                <a:spcPts val="56"/>
              </a:spcBef>
            </a:pPr>
            <a:endParaRPr lang="en-US" sz="1200" dirty="0">
              <a:latin typeface="Times New Roman" panose="02020603050405020304" pitchFamily="18" charset="0"/>
              <a:cs typeface="Times New Roman" panose="02020603050405020304" pitchFamily="18" charset="0"/>
            </a:endParaRPr>
          </a:p>
          <a:p>
            <a:pPr marL="352425" marR="395764" indent="-342900">
              <a:lnSpc>
                <a:spcPct val="100800"/>
              </a:lnSpc>
              <a:spcBef>
                <a:spcPts val="56"/>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remove all examples which are meant for clarification</a:t>
            </a:r>
          </a:p>
          <a:p>
            <a:pPr marL="352425" marR="395764" indent="-342900">
              <a:lnSpc>
                <a:spcPct val="100800"/>
              </a:lnSpc>
              <a:spcBef>
                <a:spcPts val="56"/>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remove all parenthetical examples </a:t>
            </a:r>
          </a:p>
          <a:p>
            <a:pPr marL="352425" marR="395764" indent="-342900">
              <a:lnSpc>
                <a:spcPct val="100800"/>
              </a:lnSpc>
              <a:spcBef>
                <a:spcPts val="56"/>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avoid rhetorical questions </a:t>
            </a:r>
          </a:p>
          <a:p>
            <a:pPr marL="352425" marR="395764" indent="-342900">
              <a:lnSpc>
                <a:spcPct val="100800"/>
              </a:lnSpc>
              <a:spcBef>
                <a:spcPts val="56"/>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exclude any ideas that are not stated in the passage </a:t>
            </a:r>
          </a:p>
          <a:p>
            <a:pPr marL="352425" marR="395764" indent="-342900">
              <a:lnSpc>
                <a:spcPct val="100800"/>
              </a:lnSpc>
              <a:spcBef>
                <a:spcPts val="56"/>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note that in summarizing, the points in the summary do not correspond sentence by sentence, with the passage </a:t>
            </a:r>
          </a:p>
          <a:p>
            <a:pPr marL="352425" marR="395764" indent="-342900">
              <a:lnSpc>
                <a:spcPct val="100800"/>
              </a:lnSpc>
              <a:spcBef>
                <a:spcPts val="56"/>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note that you are not to put in more than one idea in one sentence unless the question expressly asks for more than one idea </a:t>
            </a:r>
          </a:p>
          <a:p>
            <a:pPr marL="352425" marR="395764" indent="-342900">
              <a:lnSpc>
                <a:spcPct val="100800"/>
              </a:lnSpc>
              <a:spcBef>
                <a:spcPts val="56"/>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watch out for the writer’s use of signal words or linking expressions such as </a:t>
            </a:r>
            <a:r>
              <a:rPr lang="en-US" sz="2000" i="1" dirty="0">
                <a:latin typeface="Times New Roman" panose="02020603050405020304" pitchFamily="18" charset="0"/>
                <a:cs typeface="Times New Roman" panose="02020603050405020304" pitchFamily="18" charset="0"/>
              </a:rPr>
              <a:t>again</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next</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one</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two</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additionally</a:t>
            </a:r>
            <a:r>
              <a:rPr lang="en-US" sz="2000" dirty="0">
                <a:latin typeface="Times New Roman" panose="02020603050405020304" pitchFamily="18" charset="0"/>
                <a:cs typeface="Times New Roman" panose="02020603050405020304" pitchFamily="18" charset="0"/>
              </a:rPr>
              <a:t>, etc. </a:t>
            </a:r>
          </a:p>
          <a:p>
            <a:pPr marL="352425" marR="395764" indent="-342900">
              <a:lnSpc>
                <a:spcPct val="100800"/>
              </a:lnSpc>
              <a:spcBef>
                <a:spcPts val="56"/>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note that some writers may sometimes use the first paragraph (and second) to make general comments but the main points may not be found there</a:t>
            </a:r>
          </a:p>
          <a:p>
            <a:pPr marL="352425" marR="395764" indent="-342900">
              <a:lnSpc>
                <a:spcPct val="100800"/>
              </a:lnSpc>
              <a:spcBef>
                <a:spcPts val="56"/>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Exclude illustrations </a:t>
            </a:r>
          </a:p>
        </p:txBody>
      </p:sp>
      <p:sp>
        <p:nvSpPr>
          <p:cNvPr id="2" name="Slide Number Placeholder 1"/>
          <p:cNvSpPr>
            <a:spLocks noGrp="1"/>
          </p:cNvSpPr>
          <p:nvPr>
            <p:ph type="sldNum" sz="quarter" idx="12"/>
          </p:nvPr>
        </p:nvSpPr>
        <p:spPr/>
        <p:txBody>
          <a:bodyPr/>
          <a:lstStyle/>
          <a:p>
            <a:fld id="{F4801FD5-11B4-DE43-ACA2-E85EEB9A6F9C}" type="slidenum">
              <a:rPr lang="en-US" smtClean="0"/>
              <a:t>22</a:t>
            </a:fld>
            <a:endParaRPr lang="en-US" dirty="0"/>
          </a:p>
        </p:txBody>
      </p:sp>
    </p:spTree>
    <p:extLst>
      <p:ext uri="{BB962C8B-B14F-4D97-AF65-F5344CB8AC3E}">
        <p14:creationId xmlns:p14="http://schemas.microsoft.com/office/powerpoint/2010/main" val="23814367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AA308CE6-9A3D-4A15-B240-67ED59062F4C}"/>
              </a:ext>
            </a:extLst>
          </p:cNvPr>
          <p:cNvSpPr txBox="1"/>
          <p:nvPr/>
        </p:nvSpPr>
        <p:spPr>
          <a:xfrm>
            <a:off x="633412" y="210995"/>
            <a:ext cx="11353800" cy="471283"/>
          </a:xfrm>
          <a:prstGeom prst="rect">
            <a:avLst/>
          </a:prstGeom>
        </p:spPr>
        <p:txBody>
          <a:bodyPr vert="horz" wrap="square" lIns="0" tIns="9525" rIns="0" bIns="0" rtlCol="0">
            <a:spAutoFit/>
          </a:bodyPr>
          <a:lstStyle/>
          <a:p>
            <a:pPr marL="9525" algn="ctr">
              <a:spcBef>
                <a:spcPts val="75"/>
              </a:spcBef>
            </a:pPr>
            <a:r>
              <a:rPr lang="en-US" sz="3000" b="1" spc="-4" dirty="0">
                <a:solidFill>
                  <a:srgbClr val="008000"/>
                </a:solidFill>
                <a:latin typeface="Gotham" panose="02000504050000020004" pitchFamily="2" charset="0"/>
                <a:cs typeface="Arial"/>
              </a:rPr>
              <a:t>PRACTICAL SESSION ON SUMMARY WRITING  </a:t>
            </a:r>
            <a:endParaRPr lang="en-US" sz="3000" dirty="0">
              <a:solidFill>
                <a:srgbClr val="008000"/>
              </a:solidFill>
              <a:latin typeface="Gotham" panose="02000504050000020004" pitchFamily="2" charset="0"/>
              <a:cs typeface="Arial"/>
            </a:endParaRPr>
          </a:p>
        </p:txBody>
      </p:sp>
      <p:sp>
        <p:nvSpPr>
          <p:cNvPr id="6" name="TextBox 5">
            <a:extLst>
              <a:ext uri="{FF2B5EF4-FFF2-40B4-BE49-F238E27FC236}">
                <a16:creationId xmlns:a16="http://schemas.microsoft.com/office/drawing/2014/main" id="{D687606E-2D98-4A1A-8A97-39D60D5C7512}"/>
              </a:ext>
            </a:extLst>
          </p:cNvPr>
          <p:cNvSpPr txBox="1"/>
          <p:nvPr/>
        </p:nvSpPr>
        <p:spPr>
          <a:xfrm>
            <a:off x="1423987" y="2611558"/>
            <a:ext cx="10158413" cy="523220"/>
          </a:xfrm>
          <a:prstGeom prst="rect">
            <a:avLst/>
          </a:prstGeom>
          <a:noFill/>
        </p:spPr>
        <p:txBody>
          <a:bodyPr wrap="square">
            <a:spAutoFit/>
          </a:bodyPr>
          <a:lstStyle/>
          <a:p>
            <a:pPr marL="45720" indent="0" algn="just">
              <a:buNone/>
            </a:pPr>
            <a:r>
              <a:rPr lang="en-GB" sz="2800" b="1" dirty="0">
                <a:solidFill>
                  <a:srgbClr val="000000"/>
                </a:solidFill>
                <a:latin typeface="Times New Roman" panose="02020603050405020304" pitchFamily="18" charset="0"/>
              </a:rPr>
              <a:t>Discussion of sample texts and how to summarize them</a:t>
            </a:r>
            <a:endParaRPr lang="en-GB" sz="2800" dirty="0">
              <a:solidFill>
                <a:srgbClr val="000000"/>
              </a:solidFill>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F4801FD5-11B4-DE43-ACA2-E85EEB9A6F9C}" type="slidenum">
              <a:rPr lang="en-US" smtClean="0"/>
              <a:t>23</a:t>
            </a:fld>
            <a:endParaRPr lang="en-US" dirty="0"/>
          </a:p>
        </p:txBody>
      </p:sp>
    </p:spTree>
    <p:extLst>
      <p:ext uri="{BB962C8B-B14F-4D97-AF65-F5344CB8AC3E}">
        <p14:creationId xmlns:p14="http://schemas.microsoft.com/office/powerpoint/2010/main" val="3107379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AA308CE6-9A3D-4A15-B240-67ED59062F4C}"/>
              </a:ext>
            </a:extLst>
          </p:cNvPr>
          <p:cNvSpPr txBox="1"/>
          <p:nvPr/>
        </p:nvSpPr>
        <p:spPr>
          <a:xfrm>
            <a:off x="508268" y="187629"/>
            <a:ext cx="11353800" cy="471283"/>
          </a:xfrm>
          <a:prstGeom prst="rect">
            <a:avLst/>
          </a:prstGeom>
        </p:spPr>
        <p:txBody>
          <a:bodyPr vert="horz" wrap="square" lIns="0" tIns="9525" rIns="0" bIns="0" rtlCol="0">
            <a:spAutoFit/>
          </a:bodyPr>
          <a:lstStyle/>
          <a:p>
            <a:pPr marL="9525">
              <a:spcBef>
                <a:spcPts val="75"/>
              </a:spcBef>
            </a:pPr>
            <a:r>
              <a:rPr lang="en-US" sz="3000" b="1" spc="-4" dirty="0">
                <a:solidFill>
                  <a:srgbClr val="008000"/>
                </a:solidFill>
                <a:latin typeface="Gotham" panose="02000504050000020004" pitchFamily="2" charset="0"/>
                <a:cs typeface="Arial"/>
              </a:rPr>
              <a:t>REFERENCES</a:t>
            </a:r>
            <a:endParaRPr lang="en-US" sz="3000" dirty="0">
              <a:solidFill>
                <a:srgbClr val="008000"/>
              </a:solidFill>
              <a:latin typeface="Gotham" panose="02000504050000020004" pitchFamily="2" charset="0"/>
              <a:cs typeface="Arial"/>
            </a:endParaRPr>
          </a:p>
        </p:txBody>
      </p:sp>
      <p:sp>
        <p:nvSpPr>
          <p:cNvPr id="6" name="TextBox 5">
            <a:extLst>
              <a:ext uri="{FF2B5EF4-FFF2-40B4-BE49-F238E27FC236}">
                <a16:creationId xmlns:a16="http://schemas.microsoft.com/office/drawing/2014/main" id="{D687606E-2D98-4A1A-8A97-39D60D5C7512}"/>
              </a:ext>
            </a:extLst>
          </p:cNvPr>
          <p:cNvSpPr txBox="1"/>
          <p:nvPr/>
        </p:nvSpPr>
        <p:spPr>
          <a:xfrm>
            <a:off x="259984" y="878337"/>
            <a:ext cx="10879070" cy="5919569"/>
          </a:xfrm>
          <a:prstGeom prst="rect">
            <a:avLst/>
          </a:prstGeom>
          <a:noFill/>
        </p:spPr>
        <p:txBody>
          <a:bodyPr wrap="square">
            <a:spAutoFit/>
          </a:bodyPr>
          <a:lstStyle/>
          <a:p>
            <a:pPr marL="228600" lvl="0" indent="-182880" defTabSz="914400">
              <a:lnSpc>
                <a:spcPct val="90000"/>
              </a:lnSpc>
              <a:spcBef>
                <a:spcPts val="1400"/>
              </a:spcBef>
              <a:buClr>
                <a:srgbClr val="000000"/>
              </a:buClr>
              <a:buSzPct val="80000"/>
              <a:buFont typeface="Corbel" pitchFamily="34" charset="0"/>
              <a:buChar char="•"/>
            </a:pPr>
            <a:r>
              <a:rPr lang="en-GB" sz="2200" dirty="0" err="1">
                <a:solidFill>
                  <a:srgbClr val="000000"/>
                </a:solidFill>
                <a:latin typeface="Times New Roman" panose="02020603050405020304" pitchFamily="18" charset="0"/>
                <a:cs typeface="Times New Roman" panose="02020603050405020304" pitchFamily="18" charset="0"/>
              </a:rPr>
              <a:t>Afful</a:t>
            </a:r>
            <a:r>
              <a:rPr lang="en-GB" sz="2200" dirty="0">
                <a:solidFill>
                  <a:srgbClr val="000000"/>
                </a:solidFill>
                <a:latin typeface="Times New Roman" panose="02020603050405020304" pitchFamily="18" charset="0"/>
                <a:cs typeface="Times New Roman" panose="02020603050405020304" pitchFamily="18" charset="0"/>
              </a:rPr>
              <a:t>, K. P., Appiah, B. F. &amp; Mensah, I. C. (2013). </a:t>
            </a:r>
            <a:r>
              <a:rPr lang="en-GB" sz="2200" i="1" dirty="0">
                <a:solidFill>
                  <a:srgbClr val="000000"/>
                </a:solidFill>
                <a:latin typeface="Times New Roman" panose="02020603050405020304" pitchFamily="18" charset="0"/>
                <a:cs typeface="Times New Roman" panose="02020603050405020304" pitchFamily="18" charset="0"/>
              </a:rPr>
              <a:t>Composition and Comprehension</a:t>
            </a:r>
            <a:r>
              <a:rPr lang="en-GB" sz="2200" dirty="0">
                <a:solidFill>
                  <a:srgbClr val="000000"/>
                </a:solidFill>
                <a:latin typeface="Times New Roman" panose="02020603050405020304" pitchFamily="18" charset="0"/>
                <a:cs typeface="Times New Roman" panose="02020603050405020304" pitchFamily="18" charset="0"/>
              </a:rPr>
              <a:t>. Winneba: UEW.</a:t>
            </a:r>
          </a:p>
          <a:p>
            <a:pPr marL="228600" lvl="0" indent="-182880" defTabSz="914400">
              <a:lnSpc>
                <a:spcPct val="90000"/>
              </a:lnSpc>
              <a:spcBef>
                <a:spcPts val="1400"/>
              </a:spcBef>
              <a:buClr>
                <a:srgbClr val="000000"/>
              </a:buClr>
              <a:buSzPct val="80000"/>
              <a:buFont typeface="Corbel" pitchFamily="34" charset="0"/>
              <a:buChar char="•"/>
            </a:pPr>
            <a:r>
              <a:rPr lang="en-GB" sz="2200" dirty="0">
                <a:solidFill>
                  <a:srgbClr val="000000"/>
                </a:solidFill>
                <a:latin typeface="Times New Roman" panose="02020603050405020304" pitchFamily="18" charset="0"/>
                <a:cs typeface="Times New Roman" panose="02020603050405020304" pitchFamily="18" charset="0"/>
              </a:rPr>
              <a:t>Appiah, B. F. (2013). </a:t>
            </a:r>
            <a:r>
              <a:rPr lang="en-GB" sz="2200" i="1" dirty="0">
                <a:solidFill>
                  <a:srgbClr val="000000"/>
                </a:solidFill>
                <a:latin typeface="Times New Roman" panose="02020603050405020304" pitchFamily="18" charset="0"/>
                <a:cs typeface="Times New Roman" panose="02020603050405020304" pitchFamily="18" charset="0"/>
              </a:rPr>
              <a:t>English Comprehension and Summary with Tit-Bits inn Literary Devices Practice</a:t>
            </a:r>
            <a:r>
              <a:rPr lang="en-GB" sz="2200" dirty="0">
                <a:solidFill>
                  <a:srgbClr val="000000"/>
                </a:solidFill>
                <a:latin typeface="Times New Roman" panose="02020603050405020304" pitchFamily="18" charset="0"/>
                <a:cs typeface="Times New Roman" panose="02020603050405020304" pitchFamily="18" charset="0"/>
              </a:rPr>
              <a:t>. Kumasi: </a:t>
            </a:r>
            <a:r>
              <a:rPr lang="en-GB" sz="2200" dirty="0" err="1">
                <a:solidFill>
                  <a:srgbClr val="000000"/>
                </a:solidFill>
                <a:latin typeface="Times New Roman" panose="02020603050405020304" pitchFamily="18" charset="0"/>
                <a:cs typeface="Times New Roman" panose="02020603050405020304" pitchFamily="18" charset="0"/>
              </a:rPr>
              <a:t>Wilas</a:t>
            </a:r>
            <a:r>
              <a:rPr lang="en-GB" sz="2200" dirty="0">
                <a:solidFill>
                  <a:srgbClr val="000000"/>
                </a:solidFill>
                <a:latin typeface="Times New Roman" panose="02020603050405020304" pitchFamily="18" charset="0"/>
                <a:cs typeface="Times New Roman" panose="02020603050405020304" pitchFamily="18" charset="0"/>
              </a:rPr>
              <a:t> Press.</a:t>
            </a:r>
          </a:p>
          <a:p>
            <a:pPr marL="228600" lvl="0" indent="-182880" defTabSz="914400">
              <a:lnSpc>
                <a:spcPct val="90000"/>
              </a:lnSpc>
              <a:spcBef>
                <a:spcPts val="1400"/>
              </a:spcBef>
              <a:buClr>
                <a:srgbClr val="000000"/>
              </a:buClr>
              <a:buSzPct val="80000"/>
              <a:buFont typeface="Corbel" pitchFamily="34" charset="0"/>
              <a:buChar char="•"/>
            </a:pPr>
            <a:r>
              <a:rPr lang="en-GB" sz="2200" dirty="0">
                <a:solidFill>
                  <a:srgbClr val="000000"/>
                </a:solidFill>
                <a:latin typeface="Times New Roman" panose="02020603050405020304" pitchFamily="18" charset="0"/>
                <a:cs typeface="Times New Roman" panose="02020603050405020304" pitchFamily="18" charset="0"/>
              </a:rPr>
              <a:t>Adolinama, P. P. (2005). </a:t>
            </a:r>
            <a:r>
              <a:rPr lang="en-GB" sz="2200" i="1" dirty="0">
                <a:solidFill>
                  <a:srgbClr val="000000"/>
                </a:solidFill>
                <a:latin typeface="Times New Roman" panose="02020603050405020304" pitchFamily="18" charset="0"/>
                <a:cs typeface="Times New Roman" panose="02020603050405020304" pitchFamily="18" charset="0"/>
              </a:rPr>
              <a:t>Communication Skills for University Students</a:t>
            </a:r>
            <a:r>
              <a:rPr lang="en-GB" sz="2200" dirty="0">
                <a:solidFill>
                  <a:srgbClr val="000000"/>
                </a:solidFill>
                <a:latin typeface="Times New Roman" panose="02020603050405020304" pitchFamily="18" charset="0"/>
                <a:cs typeface="Times New Roman" panose="02020603050405020304" pitchFamily="18" charset="0"/>
              </a:rPr>
              <a:t>. Accra: ANEST Company Limited.  </a:t>
            </a:r>
          </a:p>
          <a:p>
            <a:pPr marL="228600" lvl="0" indent="-182880" defTabSz="914400">
              <a:lnSpc>
                <a:spcPct val="90000"/>
              </a:lnSpc>
              <a:spcBef>
                <a:spcPts val="1400"/>
              </a:spcBef>
              <a:buClr>
                <a:srgbClr val="000000"/>
              </a:buClr>
              <a:buSzPct val="80000"/>
              <a:buFont typeface="Corbel" pitchFamily="34" charset="0"/>
              <a:buChar char="•"/>
            </a:pPr>
            <a:r>
              <a:rPr lang="en-GB" sz="2200" dirty="0">
                <a:solidFill>
                  <a:srgbClr val="000000"/>
                </a:solidFill>
                <a:latin typeface="Times New Roman" panose="02020603050405020304" pitchFamily="18" charset="0"/>
                <a:cs typeface="Times New Roman" panose="02020603050405020304" pitchFamily="18" charset="0"/>
              </a:rPr>
              <a:t>Sekyi-Baidoo, Y. (2003).</a:t>
            </a:r>
            <a:r>
              <a:rPr lang="en-GB" sz="2200" i="1" dirty="0">
                <a:solidFill>
                  <a:srgbClr val="000000"/>
                </a:solidFill>
                <a:latin typeface="Times New Roman" panose="02020603050405020304" pitchFamily="18" charset="0"/>
                <a:cs typeface="Times New Roman" panose="02020603050405020304" pitchFamily="18" charset="0"/>
              </a:rPr>
              <a:t> Learning and communicating </a:t>
            </a:r>
            <a:r>
              <a:rPr lang="en-GB" sz="2200" dirty="0">
                <a:solidFill>
                  <a:srgbClr val="000000"/>
                </a:solidFill>
                <a:latin typeface="Times New Roman" panose="02020603050405020304" pitchFamily="18" charset="0"/>
                <a:cs typeface="Times New Roman" panose="02020603050405020304" pitchFamily="18" charset="0"/>
              </a:rPr>
              <a:t>(2</a:t>
            </a:r>
            <a:r>
              <a:rPr lang="en-GB" sz="2200" baseline="30000" dirty="0">
                <a:solidFill>
                  <a:srgbClr val="000000"/>
                </a:solidFill>
                <a:latin typeface="Times New Roman" panose="02020603050405020304" pitchFamily="18" charset="0"/>
                <a:cs typeface="Times New Roman" panose="02020603050405020304" pitchFamily="18" charset="0"/>
              </a:rPr>
              <a:t>nd</a:t>
            </a:r>
            <a:r>
              <a:rPr lang="en-GB" sz="2200" dirty="0">
                <a:solidFill>
                  <a:srgbClr val="000000"/>
                </a:solidFill>
                <a:latin typeface="Times New Roman" panose="02020603050405020304" pitchFamily="18" charset="0"/>
                <a:cs typeface="Times New Roman" panose="02020603050405020304" pitchFamily="18" charset="0"/>
              </a:rPr>
              <a:t> Ed.). Accra: Infinity Graphics Ltd.</a:t>
            </a:r>
          </a:p>
          <a:p>
            <a:pPr marL="228600" lvl="0" indent="-182880" defTabSz="914400">
              <a:lnSpc>
                <a:spcPct val="90000"/>
              </a:lnSpc>
              <a:spcBef>
                <a:spcPts val="1400"/>
              </a:spcBef>
              <a:buClr>
                <a:srgbClr val="000000"/>
              </a:buClr>
              <a:buSzPct val="80000"/>
              <a:buFont typeface="Corbel" pitchFamily="34" charset="0"/>
              <a:buChar char="•"/>
            </a:pPr>
            <a:r>
              <a:rPr lang="en-GB" sz="2200" dirty="0" err="1">
                <a:solidFill>
                  <a:srgbClr val="000000"/>
                </a:solidFill>
                <a:latin typeface="Times New Roman" panose="02020603050405020304" pitchFamily="18" charset="0"/>
                <a:cs typeface="Times New Roman" panose="02020603050405020304" pitchFamily="18" charset="0"/>
              </a:rPr>
              <a:t>Olatunji</a:t>
            </a:r>
            <a:r>
              <a:rPr lang="en-GB" sz="2200" dirty="0">
                <a:solidFill>
                  <a:srgbClr val="000000"/>
                </a:solidFill>
                <a:latin typeface="Times New Roman" panose="02020603050405020304" pitchFamily="18" charset="0"/>
                <a:cs typeface="Times New Roman" panose="02020603050405020304" pitchFamily="18" charset="0"/>
              </a:rPr>
              <a:t>, S. O. (2014). </a:t>
            </a:r>
            <a:r>
              <a:rPr lang="en-US" sz="2200" dirty="0">
                <a:solidFill>
                  <a:srgbClr val="000000"/>
                </a:solidFill>
                <a:latin typeface="Times New Roman" panose="02020603050405020304" pitchFamily="18" charset="0"/>
                <a:cs typeface="Times New Roman" panose="02020603050405020304" pitchFamily="18" charset="0"/>
              </a:rPr>
              <a:t>Reading Comprehension and Summary Skills. [url: https://www.researchgate.net/publication/259752916]</a:t>
            </a:r>
            <a:endParaRPr lang="en-GB" sz="2200" dirty="0">
              <a:solidFill>
                <a:srgbClr val="000000"/>
              </a:solidFill>
              <a:latin typeface="Times New Roman" panose="02020603050405020304" pitchFamily="18" charset="0"/>
              <a:cs typeface="Times New Roman" panose="02020603050405020304" pitchFamily="18" charset="0"/>
            </a:endParaRPr>
          </a:p>
          <a:p>
            <a:pPr marL="228600" lvl="0" indent="-182880" defTabSz="914400">
              <a:lnSpc>
                <a:spcPct val="90000"/>
              </a:lnSpc>
              <a:spcBef>
                <a:spcPts val="1400"/>
              </a:spcBef>
              <a:buClr>
                <a:srgbClr val="000000"/>
              </a:buClr>
              <a:buSzPct val="80000"/>
              <a:buFont typeface="Corbel" pitchFamily="34" charset="0"/>
              <a:buChar char="•"/>
            </a:pPr>
            <a:r>
              <a:rPr lang="en-US" sz="2200" b="1" dirty="0">
                <a:solidFill>
                  <a:srgbClr val="000000"/>
                </a:solidFill>
                <a:latin typeface="Times New Roman" panose="02020603050405020304" pitchFamily="18" charset="0"/>
                <a:cs typeface="Times New Roman" panose="02020603050405020304" pitchFamily="18" charset="0"/>
              </a:rPr>
              <a:t>www.khanacademy.org</a:t>
            </a:r>
            <a:r>
              <a:rPr lang="en-US" sz="2200" dirty="0">
                <a:solidFill>
                  <a:srgbClr val="000000"/>
                </a:solidFill>
                <a:latin typeface="Times New Roman" panose="02020603050405020304" pitchFamily="18" charset="0"/>
                <a:cs typeface="Times New Roman" panose="02020603050405020304" pitchFamily="18" charset="0"/>
              </a:rPr>
              <a:t>: </a:t>
            </a:r>
            <a:r>
              <a:rPr lang="en-US" sz="2200" dirty="0">
                <a:solidFill>
                  <a:srgbClr val="000000"/>
                </a:solidFill>
                <a:latin typeface="Times New Roman" panose="02020603050405020304" pitchFamily="18" charset="0"/>
                <a:cs typeface="Times New Roman" panose="02020603050405020304" pitchFamily="18" charset="0"/>
                <a:hlinkClick r:id="rId3"/>
              </a:rPr>
              <a:t>https://www.khanacademy.org/test-prep/sat/new-sat-tips-planning/sat-reading-test-strategies/a/sat-active-reading-strategies-part-1-sq3r</a:t>
            </a:r>
            <a:r>
              <a:rPr lang="en-US" sz="2200" dirty="0">
                <a:solidFill>
                  <a:srgbClr val="000000"/>
                </a:solidFill>
                <a:latin typeface="Times New Roman" panose="02020603050405020304" pitchFamily="18" charset="0"/>
                <a:cs typeface="Times New Roman" panose="02020603050405020304" pitchFamily="18" charset="0"/>
              </a:rPr>
              <a:t> [Accessed on January 17, 2021]</a:t>
            </a:r>
          </a:p>
          <a:p>
            <a:pPr marL="228600" lvl="0" indent="-182880" defTabSz="914400">
              <a:lnSpc>
                <a:spcPct val="90000"/>
              </a:lnSpc>
              <a:spcBef>
                <a:spcPts val="1400"/>
              </a:spcBef>
              <a:buClr>
                <a:srgbClr val="000000"/>
              </a:buClr>
              <a:buSzPct val="80000"/>
              <a:buFont typeface="Corbel" pitchFamily="34" charset="0"/>
              <a:buChar char="•"/>
            </a:pPr>
            <a:endParaRPr lang="en-US" sz="2200" dirty="0">
              <a:solidFill>
                <a:srgbClr val="000000"/>
              </a:solidFill>
              <a:latin typeface="Times New Roman" panose="02020603050405020304" pitchFamily="18" charset="0"/>
              <a:cs typeface="Times New Roman" panose="02020603050405020304" pitchFamily="18" charset="0"/>
            </a:endParaRPr>
          </a:p>
          <a:p>
            <a:pPr marL="228600" lvl="0" indent="-182880" defTabSz="914400">
              <a:lnSpc>
                <a:spcPct val="90000"/>
              </a:lnSpc>
              <a:spcBef>
                <a:spcPts val="1400"/>
              </a:spcBef>
              <a:buClr>
                <a:srgbClr val="000000"/>
              </a:buClr>
              <a:buSzPct val="80000"/>
              <a:buFont typeface="Corbel" pitchFamily="34" charset="0"/>
              <a:buChar char="•"/>
            </a:pPr>
            <a:endParaRPr lang="en-GB" sz="2200" dirty="0">
              <a:solidFill>
                <a:srgbClr val="000000"/>
              </a:solidFill>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F4801FD5-11B4-DE43-ACA2-E85EEB9A6F9C}" type="slidenum">
              <a:rPr lang="en-US" smtClean="0"/>
              <a:t>24</a:t>
            </a:fld>
            <a:endParaRPr lang="en-US" dirty="0"/>
          </a:p>
        </p:txBody>
      </p:sp>
    </p:spTree>
    <p:extLst>
      <p:ext uri="{BB962C8B-B14F-4D97-AF65-F5344CB8AC3E}">
        <p14:creationId xmlns:p14="http://schemas.microsoft.com/office/powerpoint/2010/main" val="28187659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5933</TotalTime>
  <Words>3234</Words>
  <Application>Microsoft Office PowerPoint</Application>
  <PresentationFormat>Widescreen</PresentationFormat>
  <Paragraphs>258</Paragraphs>
  <Slides>24</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Calibri</vt:lpstr>
      <vt:lpstr>Corbel</vt:lpstr>
      <vt:lpstr>Gotham</vt:lpstr>
      <vt:lpstr>Helvetica</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UPK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KNUST Press</dc:creator>
  <cp:lastModifiedBy>USER</cp:lastModifiedBy>
  <cp:revision>167</cp:revision>
  <cp:lastPrinted>2020-08-24T12:42:31Z</cp:lastPrinted>
  <dcterms:created xsi:type="dcterms:W3CDTF">2016-11-07T15:28:41Z</dcterms:created>
  <dcterms:modified xsi:type="dcterms:W3CDTF">2024-03-27T12:44:45Z</dcterms:modified>
</cp:coreProperties>
</file>